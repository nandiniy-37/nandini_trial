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1" roundtripDataSignature="AMtx7mjijlDebyE4+22ZfQX3NuTFIAsXq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20" Type="http://schemas.openxmlformats.org/officeDocument/2006/relationships/slide" Target="slides/slide16.xml"/><Relationship Id="rId41" Type="http://customschemas.google.com/relationships/presentationmetadata" Target="metadata"/><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slide" Target="slides/slide29.xml"/><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35" Type="http://schemas.openxmlformats.org/officeDocument/2006/relationships/slide" Target="slides/slide31.xml"/><Relationship Id="rId12" Type="http://schemas.openxmlformats.org/officeDocument/2006/relationships/slide" Target="slides/slide8.xml"/><Relationship Id="rId34" Type="http://schemas.openxmlformats.org/officeDocument/2006/relationships/slide" Target="slides/slide30.xml"/><Relationship Id="rId15" Type="http://schemas.openxmlformats.org/officeDocument/2006/relationships/slide" Target="slides/slide11.xml"/><Relationship Id="rId37" Type="http://schemas.openxmlformats.org/officeDocument/2006/relationships/slide" Target="slides/slide33.xml"/><Relationship Id="rId14" Type="http://schemas.openxmlformats.org/officeDocument/2006/relationships/slide" Target="slides/slide10.xml"/><Relationship Id="rId36" Type="http://schemas.openxmlformats.org/officeDocument/2006/relationships/slide" Target="slides/slide32.xml"/><Relationship Id="rId17" Type="http://schemas.openxmlformats.org/officeDocument/2006/relationships/slide" Target="slides/slide13.xml"/><Relationship Id="rId39" Type="http://schemas.openxmlformats.org/officeDocument/2006/relationships/slide" Target="slides/slide35.xml"/><Relationship Id="rId16" Type="http://schemas.openxmlformats.org/officeDocument/2006/relationships/slide" Target="slides/slide12.xml"/><Relationship Id="rId38" Type="http://schemas.openxmlformats.org/officeDocument/2006/relationships/slide" Target="slides/slide34.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 name="Google Shape;8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 name="Google Shape;9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 name="Google Shape;102;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 name="Google Shape;110;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3" name="Google Shape;123;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2" name="Google Shape;132;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0" name="Google Shape;140;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0" name="Google Shape;150;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9e1ead23f4_0_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39e1ead23f4_0_3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9" name="Google Shape;159;g39e1ead23f4_0_3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9e1ead23f4_0_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39e1ead23f4_0_3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8" name="Google Shape;168;g39e1ead23f4_0_3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9e1ead23f4_0_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39e1ead23f4_0_5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7" name="Google Shape;177;g39e1ead23f4_0_5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9e1ead23f4_0_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39e1ead23f4_0_6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4" name="Google Shape;184;g39e1ead23f4_0_6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9e1ead23f4_0_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39e1ead23f4_0_6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2" name="Google Shape;192;g39e1ead23f4_0_6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39e1ead23f4_0_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39e1ead23f4_0_7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0" name="Google Shape;200;g39e1ead23f4_0_7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6" name="Google Shape;206;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4" name="Google Shape;214;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2" name="Google Shape;222;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1" name="Google Shape;231;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9" name="Google Shape;239;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7" name="Google Shape;247;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5" name="Google Shape;255;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3" name="Google Shape;263;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1" name="Google Shape;271;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9" name="Google Shape;279;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7" name="Google Shape;287;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6" name="Google Shape;296;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4" name="Google Shape;304;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2" name="Google Shape;312;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1" name="Google Shape;321;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0" name="Google Shape;330;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39e1ead23f4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37" name="Google Shape;337;g39e1ead23f4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8" name="Google Shape;338;g39e1ead23f4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39e1ead23f4_0_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44" name="Google Shape;344;g39e1ead23f4_0_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5" name="Google Shape;345;g39e1ead23f4_0_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39e1ead23f4_0_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51" name="Google Shape;351;g39e1ead23f4_0_1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2" name="Google Shape;352;g39e1ead23f4_0_1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g39e1ead23f4_0_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58" name="Google Shape;358;g39e1ead23f4_0_1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9" name="Google Shape;359;g39e1ead23f4_0_1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39e1ead23f4_0_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65" name="Google Shape;365;g39e1ead23f4_0_2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6" name="Google Shape;366;g39e1ead23f4_0_2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g39e1ead23f4_0_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71" name="Google Shape;371;g39e1ead23f4_0_2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2" name="Google Shape;372;g39e1ead23f4_0_2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 name="Shape 19"/>
        <p:cNvGrpSpPr/>
        <p:nvPr/>
      </p:nvGrpSpPr>
      <p:grpSpPr>
        <a:xfrm>
          <a:off x="0" y="0"/>
          <a:ext cx="0" cy="0"/>
          <a:chOff x="0" y="0"/>
          <a:chExt cx="0" cy="0"/>
        </a:xfrm>
      </p:grpSpPr>
      <p:sp>
        <p:nvSpPr>
          <p:cNvPr id="20" name="Google Shape;20;p29"/>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29"/>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2" name="Google Shape;22;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3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3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 name="Google Shape;28;p3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31"/>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31"/>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4" name="Google Shape;34;p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3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32"/>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32"/>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 name="Google Shape;41;p3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3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33"/>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33"/>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7" name="Google Shape;47;p33"/>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8" name="Google Shape;48;p33"/>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9" name="Google Shape;49;p33"/>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 name="Google Shape;50;p3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3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3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3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3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3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3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3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35"/>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35"/>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3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3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3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36"/>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36"/>
          <p:cNvSpPr/>
          <p:nvPr>
            <p:ph idx="2" type="pic"/>
          </p:nvPr>
        </p:nvSpPr>
        <p:spPr>
          <a:xfrm>
            <a:off x="5183188" y="987425"/>
            <a:ext cx="6172200" cy="4873625"/>
          </a:xfrm>
          <a:prstGeom prst="rect">
            <a:avLst/>
          </a:prstGeom>
          <a:noFill/>
          <a:ln>
            <a:noFill/>
          </a:ln>
        </p:spPr>
      </p:sp>
      <p:sp>
        <p:nvSpPr>
          <p:cNvPr id="68" name="Google Shape;68;p36"/>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3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3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3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3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37"/>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3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3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3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38"/>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38"/>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3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3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3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8.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0.pn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3.png"/><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2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20.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2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2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
          <p:cNvSpPr txBox="1"/>
          <p:nvPr/>
        </p:nvSpPr>
        <p:spPr>
          <a:xfrm>
            <a:off x="634481" y="274680"/>
            <a:ext cx="10655559" cy="518422"/>
          </a:xfrm>
          <a:prstGeom prst="rect">
            <a:avLst/>
          </a:prstGeom>
          <a:noFill/>
          <a:ln>
            <a:noFill/>
          </a:ln>
        </p:spPr>
        <p:txBody>
          <a:bodyPr anchorCtr="0" anchor="ctr" bIns="45700" lIns="91425" spcFirstLastPara="1" rIns="91425" wrap="square" tIns="45700">
            <a:normAutofit fontScale="75000" lnSpcReduction="20000"/>
          </a:bodyPr>
          <a:lstStyle/>
          <a:p>
            <a:pPr indent="0" lvl="0" marL="0" marR="0" rtl="0" algn="ctr">
              <a:lnSpc>
                <a:spcPct val="100000"/>
              </a:lnSpc>
              <a:spcBef>
                <a:spcPts val="0"/>
              </a:spcBef>
              <a:spcAft>
                <a:spcPts val="0"/>
              </a:spcAft>
              <a:buClr>
                <a:srgbClr val="000000"/>
              </a:buClr>
              <a:buSzPct val="100000"/>
              <a:buFont typeface="Arial"/>
              <a:buNone/>
            </a:pPr>
            <a:r>
              <a:rPr b="1" i="0" lang="en-US" sz="4400" u="none" cap="none" strike="noStrike">
                <a:solidFill>
                  <a:srgbClr val="000000"/>
                </a:solidFill>
                <a:latin typeface="Calibri"/>
                <a:ea typeface="Calibri"/>
                <a:cs typeface="Calibri"/>
                <a:sym typeface="Calibri"/>
              </a:rPr>
              <a:t>String Handling</a:t>
            </a:r>
            <a:endParaRPr b="0" i="0" sz="4400" u="none" cap="none" strike="noStrike">
              <a:solidFill>
                <a:srgbClr val="000000"/>
              </a:solidFill>
              <a:latin typeface="Calibri"/>
              <a:ea typeface="Calibri"/>
              <a:cs typeface="Calibri"/>
              <a:sym typeface="Calibri"/>
            </a:endParaRPr>
          </a:p>
        </p:txBody>
      </p:sp>
      <p:sp>
        <p:nvSpPr>
          <p:cNvPr id="89" name="Google Shape;89;p1"/>
          <p:cNvSpPr txBox="1"/>
          <p:nvPr/>
        </p:nvSpPr>
        <p:spPr>
          <a:xfrm>
            <a:off x="783771" y="793102"/>
            <a:ext cx="10506269" cy="5393094"/>
          </a:xfrm>
          <a:prstGeom prst="rect">
            <a:avLst/>
          </a:prstGeom>
          <a:noFill/>
          <a:ln>
            <a:noFill/>
          </a:ln>
        </p:spPr>
        <p:txBody>
          <a:bodyPr anchorCtr="0" anchor="t" bIns="45700" lIns="91425" spcFirstLastPara="1" rIns="91425" wrap="square" tIns="45700">
            <a:normAutofit fontScale="94500"/>
          </a:bodyPr>
          <a:lstStyle/>
          <a:p>
            <a:pPr indent="0" lvl="0" marL="0" marR="0" rtl="0" algn="l">
              <a:lnSpc>
                <a:spcPct val="100000"/>
              </a:lnSpc>
              <a:spcBef>
                <a:spcPts val="0"/>
              </a:spcBef>
              <a:spcAft>
                <a:spcPts val="0"/>
              </a:spcAft>
              <a:buClr>
                <a:srgbClr val="000000"/>
              </a:buClr>
              <a:buSzPct val="100000"/>
              <a:buFont typeface="Arial"/>
              <a:buNone/>
            </a:pPr>
            <a:r>
              <a:rPr b="0" i="0" lang="en-US" sz="3200" u="none" cap="none" strike="noStrike">
                <a:solidFill>
                  <a:srgbClr val="000000"/>
                </a:solidFill>
                <a:latin typeface="Calibri"/>
                <a:ea typeface="Calibri"/>
                <a:cs typeface="Calibri"/>
                <a:sym typeface="Calibri"/>
              </a:rPr>
              <a:t>String is a non primitive data type which refers to an object.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41"/>
              </a:spcBef>
              <a:spcAft>
                <a:spcPts val="0"/>
              </a:spcAft>
              <a:buClr>
                <a:srgbClr val="000000"/>
              </a:buClr>
              <a:buSzPct val="100000"/>
              <a:buFont typeface="Arial"/>
              <a:buNone/>
            </a:pPr>
            <a:r>
              <a:rPr b="0" i="0" lang="en-US" sz="3200" u="none" cap="none" strike="noStrike">
                <a:solidFill>
                  <a:srgbClr val="000000"/>
                </a:solidFill>
                <a:latin typeface="Calibri"/>
                <a:ea typeface="Calibri"/>
                <a:cs typeface="Calibri"/>
                <a:sym typeface="Calibri"/>
              </a:rPr>
              <a:t>String is basically an object that represents sequence of char values.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41"/>
              </a:spcBef>
              <a:spcAft>
                <a:spcPts val="0"/>
              </a:spcAft>
              <a:buClr>
                <a:srgbClr val="000000"/>
              </a:buClr>
              <a:buSzPct val="100000"/>
              <a:buFont typeface="Arial"/>
              <a:buNone/>
            </a:pPr>
            <a:r>
              <a:rPr b="0" i="0" lang="en-US" sz="3200" u="none" cap="none" strike="noStrike">
                <a:solidFill>
                  <a:srgbClr val="000000"/>
                </a:solidFill>
                <a:latin typeface="Calibri"/>
                <a:ea typeface="Calibri"/>
                <a:cs typeface="Calibri"/>
                <a:sym typeface="Calibri"/>
              </a:rPr>
              <a:t>char[] ch={'j','a','v','a'};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41"/>
              </a:spcBef>
              <a:spcAft>
                <a:spcPts val="0"/>
              </a:spcAft>
              <a:buClr>
                <a:srgbClr val="000000"/>
              </a:buClr>
              <a:buSzPct val="100000"/>
              <a:buFont typeface="Arial"/>
              <a:buNone/>
            </a:pPr>
            <a:r>
              <a:rPr b="0" i="0" lang="en-US" sz="3200" u="none" cap="none" strike="noStrike">
                <a:solidFill>
                  <a:srgbClr val="000000"/>
                </a:solidFill>
                <a:latin typeface="Calibri"/>
                <a:ea typeface="Calibri"/>
                <a:cs typeface="Calibri"/>
                <a:sym typeface="Calibri"/>
              </a:rPr>
              <a:t>String s=new String(ch);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41"/>
              </a:spcBef>
              <a:spcAft>
                <a:spcPts val="0"/>
              </a:spcAft>
              <a:buClr>
                <a:srgbClr val="000000"/>
              </a:buClr>
              <a:buSzPct val="100000"/>
              <a:buFont typeface="Arial"/>
              <a:buNone/>
            </a:pPr>
            <a:r>
              <a:rPr b="1" i="0" lang="en-US" sz="3200" u="none" cap="none" strike="noStrike">
                <a:solidFill>
                  <a:srgbClr val="000000"/>
                </a:solidFill>
                <a:latin typeface="Calibri"/>
                <a:ea typeface="Calibri"/>
                <a:cs typeface="Calibri"/>
                <a:sym typeface="Calibri"/>
              </a:rPr>
              <a:t>is same as: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41"/>
              </a:spcBef>
              <a:spcAft>
                <a:spcPts val="0"/>
              </a:spcAft>
              <a:buClr>
                <a:srgbClr val="000000"/>
              </a:buClr>
              <a:buSzPct val="100000"/>
              <a:buFont typeface="Arial"/>
              <a:buNone/>
            </a:pPr>
            <a:r>
              <a:rPr b="0" i="0" lang="en-US" sz="3200" u="none" cap="none" strike="noStrike">
                <a:solidFill>
                  <a:srgbClr val="000000"/>
                </a:solidFill>
                <a:latin typeface="Calibri"/>
                <a:ea typeface="Calibri"/>
                <a:cs typeface="Calibri"/>
                <a:sym typeface="Calibri"/>
              </a:rPr>
              <a:t>String s="java";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41"/>
              </a:spcBef>
              <a:spcAft>
                <a:spcPts val="0"/>
              </a:spcAft>
              <a:buClr>
                <a:srgbClr val="000000"/>
              </a:buClr>
              <a:buSzPct val="100000"/>
              <a:buFont typeface="Arial"/>
              <a:buNone/>
            </a:pPr>
            <a:r>
              <a:rPr b="0" i="0" lang="en-US" sz="3200" u="none" cap="none" strike="noStrike">
                <a:solidFill>
                  <a:srgbClr val="000000"/>
                </a:solidFill>
                <a:latin typeface="Calibri"/>
                <a:ea typeface="Calibri"/>
                <a:cs typeface="Calibri"/>
                <a:sym typeface="Calibri"/>
              </a:rPr>
              <a:t>Java String class provides a lot of methods to perform operations on strings such as compare(), concat(), equals(), split(), length(), replace(), compareTo(), intern(), substring() etc.</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41"/>
              </a:spcBef>
              <a:spcAft>
                <a:spcPts val="0"/>
              </a:spcAft>
              <a:buClr>
                <a:srgbClr val="000000"/>
              </a:buClr>
              <a:buSzPct val="100000"/>
              <a:buFont typeface="Arial"/>
              <a:buNone/>
            </a:pPr>
            <a:r>
              <a:t/>
            </a:r>
            <a:endParaRPr b="0" i="0" sz="3200" u="none" cap="none" strike="noStrike">
              <a:solidFill>
                <a:srgbClr val="000000"/>
              </a:solidFill>
              <a:latin typeface="Calibri"/>
              <a:ea typeface="Calibri"/>
              <a:cs typeface="Calibri"/>
              <a:sym typeface="Calibri"/>
            </a:endParaRPr>
          </a:p>
        </p:txBody>
      </p:sp>
      <p:sp>
        <p:nvSpPr>
          <p:cNvPr id="90" name="Google Shape;90;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Sindhu K, Dept. of ISE</a:t>
            </a:r>
            <a:endParaRPr/>
          </a:p>
        </p:txBody>
      </p:sp>
      <p:sp>
        <p:nvSpPr>
          <p:cNvPr id="91" name="Google Shape;91;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2"/>
          <p:cNvSpPr txBox="1"/>
          <p:nvPr/>
        </p:nvSpPr>
        <p:spPr>
          <a:xfrm>
            <a:off x="634481" y="274680"/>
            <a:ext cx="10655559" cy="518422"/>
          </a:xfrm>
          <a:prstGeom prst="rect">
            <a:avLst/>
          </a:prstGeom>
          <a:noFill/>
          <a:ln>
            <a:noFill/>
          </a:ln>
        </p:spPr>
        <p:txBody>
          <a:bodyPr anchorCtr="0" anchor="ctr" bIns="45700" lIns="91425" spcFirstLastPara="1" rIns="91425" wrap="square" tIns="45700">
            <a:normAutofit fontScale="75000" lnSpcReduction="20000"/>
          </a:bodyPr>
          <a:lstStyle/>
          <a:p>
            <a:pPr indent="0" lvl="0" marL="0" marR="0" rtl="0" algn="ctr">
              <a:lnSpc>
                <a:spcPct val="100000"/>
              </a:lnSpc>
              <a:spcBef>
                <a:spcPts val="0"/>
              </a:spcBef>
              <a:spcAft>
                <a:spcPts val="0"/>
              </a:spcAft>
              <a:buClr>
                <a:srgbClr val="000000"/>
              </a:buClr>
              <a:buSzPct val="100000"/>
              <a:buFont typeface="Arial"/>
              <a:buNone/>
            </a:pPr>
            <a:r>
              <a:rPr b="1" i="0" lang="en-US" sz="4400" u="none" cap="none" strike="noStrike">
                <a:solidFill>
                  <a:srgbClr val="000000"/>
                </a:solidFill>
                <a:latin typeface="Calibri"/>
                <a:ea typeface="Calibri"/>
                <a:cs typeface="Calibri"/>
                <a:sym typeface="Calibri"/>
              </a:rPr>
              <a:t>String Handling</a:t>
            </a:r>
            <a:endParaRPr b="0" i="0" sz="4400" u="none" cap="none" strike="noStrike">
              <a:solidFill>
                <a:srgbClr val="000000"/>
              </a:solidFill>
              <a:latin typeface="Calibri"/>
              <a:ea typeface="Calibri"/>
              <a:cs typeface="Calibri"/>
              <a:sym typeface="Calibri"/>
            </a:endParaRPr>
          </a:p>
        </p:txBody>
      </p:sp>
      <p:sp>
        <p:nvSpPr>
          <p:cNvPr id="97" name="Google Shape;97;p2"/>
          <p:cNvSpPr txBox="1"/>
          <p:nvPr/>
        </p:nvSpPr>
        <p:spPr>
          <a:xfrm>
            <a:off x="488304" y="793102"/>
            <a:ext cx="10506269" cy="5835938"/>
          </a:xfrm>
          <a:prstGeom prst="rect">
            <a:avLst/>
          </a:prstGeom>
          <a:noFill/>
          <a:ln>
            <a:noFill/>
          </a:ln>
        </p:spPr>
        <p:txBody>
          <a:bodyPr anchorCtr="0" anchor="t" bIns="45700" lIns="91425" spcFirstLastPara="1" rIns="91425" wrap="square" tIns="45700">
            <a:normAutofit fontScale="94500"/>
          </a:bodyPr>
          <a:lstStyle/>
          <a:p>
            <a:pPr indent="0" lvl="0" marL="0" marR="0" rtl="0" algn="l">
              <a:lnSpc>
                <a:spcPct val="100000"/>
              </a:lnSpc>
              <a:spcBef>
                <a:spcPts val="0"/>
              </a:spcBef>
              <a:spcAft>
                <a:spcPts val="0"/>
              </a:spcAft>
              <a:buClr>
                <a:srgbClr val="000000"/>
              </a:buClr>
              <a:buSzPct val="100000"/>
              <a:buFont typeface="Arial"/>
              <a:buNone/>
            </a:pPr>
            <a:r>
              <a:rPr b="0" i="0" lang="en-US" sz="3200" u="none" cap="none" strike="noStrike">
                <a:solidFill>
                  <a:srgbClr val="000000"/>
                </a:solidFill>
                <a:latin typeface="Calibri"/>
                <a:ea typeface="Calibri"/>
                <a:cs typeface="Calibri"/>
                <a:sym typeface="Calibri"/>
              </a:rPr>
              <a:t>Generally, String is a sequence of characters.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41"/>
              </a:spcBef>
              <a:spcAft>
                <a:spcPts val="0"/>
              </a:spcAft>
              <a:buClr>
                <a:srgbClr val="000000"/>
              </a:buClr>
              <a:buSzPct val="100000"/>
              <a:buFont typeface="Arial"/>
              <a:buNone/>
            </a:pPr>
            <a:r>
              <a:rPr b="0" i="0" lang="en-US" sz="3200" u="none" cap="none" strike="noStrike">
                <a:solidFill>
                  <a:srgbClr val="000000"/>
                </a:solidFill>
                <a:latin typeface="Calibri"/>
                <a:ea typeface="Calibri"/>
                <a:cs typeface="Calibri"/>
                <a:sym typeface="Calibri"/>
              </a:rPr>
              <a:t>But in Java, string is an object that represents a sequence of characters.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41"/>
              </a:spcBef>
              <a:spcAft>
                <a:spcPts val="0"/>
              </a:spcAft>
              <a:buClr>
                <a:srgbClr val="000000"/>
              </a:buClr>
              <a:buSzPct val="100000"/>
              <a:buFont typeface="Arial"/>
              <a:buNone/>
            </a:pPr>
            <a:r>
              <a:rPr b="0" i="0" lang="en-US" sz="3200" u="none" cap="none" strike="noStrike">
                <a:solidFill>
                  <a:srgbClr val="000000"/>
                </a:solidFill>
                <a:latin typeface="Calibri"/>
                <a:ea typeface="Calibri"/>
                <a:cs typeface="Calibri"/>
                <a:sym typeface="Calibri"/>
              </a:rPr>
              <a:t>The java.lang.String class is used to create a string object.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41"/>
              </a:spcBef>
              <a:spcAft>
                <a:spcPts val="0"/>
              </a:spcAft>
              <a:buClr>
                <a:srgbClr val="000000"/>
              </a:buClr>
              <a:buSzPct val="100000"/>
              <a:buFont typeface="Arial"/>
              <a:buNone/>
            </a:pPr>
            <a:r>
              <a:t/>
            </a:r>
            <a:endParaRPr b="0" i="0" sz="3200" u="none" cap="none" strike="noStrike">
              <a:solidFill>
                <a:srgbClr val="000000"/>
              </a:solidFill>
              <a:latin typeface="Calibri"/>
              <a:ea typeface="Calibri"/>
              <a:cs typeface="Calibri"/>
              <a:sym typeface="Calibri"/>
            </a:endParaRPr>
          </a:p>
          <a:p>
            <a:pPr indent="0" lvl="0" marL="0" marR="0" rtl="0" algn="l">
              <a:lnSpc>
                <a:spcPct val="100000"/>
              </a:lnSpc>
              <a:spcBef>
                <a:spcPts val="641"/>
              </a:spcBef>
              <a:spcAft>
                <a:spcPts val="0"/>
              </a:spcAft>
              <a:buClr>
                <a:srgbClr val="000000"/>
              </a:buClr>
              <a:buSzPct val="100000"/>
              <a:buFont typeface="Arial"/>
              <a:buNone/>
            </a:pPr>
            <a:r>
              <a:rPr b="0" i="0" lang="en-US" sz="3200" u="none" cap="none" strike="noStrike">
                <a:solidFill>
                  <a:srgbClr val="000000"/>
                </a:solidFill>
                <a:latin typeface="Calibri"/>
                <a:ea typeface="Calibri"/>
                <a:cs typeface="Calibri"/>
                <a:sym typeface="Calibri"/>
              </a:rPr>
              <a:t>How to create a string object?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41"/>
              </a:spcBef>
              <a:spcAft>
                <a:spcPts val="0"/>
              </a:spcAft>
              <a:buClr>
                <a:srgbClr val="000000"/>
              </a:buClr>
              <a:buSzPct val="100000"/>
              <a:buFont typeface="Arial"/>
              <a:buNone/>
            </a:pPr>
            <a:r>
              <a:rPr b="0" i="0" lang="en-US" sz="3200" u="none" cap="none" strike="noStrike">
                <a:solidFill>
                  <a:srgbClr val="000000"/>
                </a:solidFill>
                <a:latin typeface="Calibri"/>
                <a:ea typeface="Calibri"/>
                <a:cs typeface="Calibri"/>
                <a:sym typeface="Calibri"/>
              </a:rPr>
              <a:t>There are two ways to create String object:</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641"/>
              </a:spcBef>
              <a:spcAft>
                <a:spcPts val="0"/>
              </a:spcAft>
              <a:buClr>
                <a:srgbClr val="000000"/>
              </a:buClr>
              <a:buSzPct val="100000"/>
              <a:buFont typeface="Arial"/>
              <a:buChar char="•"/>
            </a:pPr>
            <a:r>
              <a:rPr b="0" i="0" lang="en-US" sz="3200" u="none" cap="none" strike="noStrike">
                <a:solidFill>
                  <a:srgbClr val="000000"/>
                </a:solidFill>
                <a:latin typeface="Calibri"/>
                <a:ea typeface="Calibri"/>
                <a:cs typeface="Calibri"/>
                <a:sym typeface="Calibri"/>
              </a:rPr>
              <a:t>By string literal</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641"/>
              </a:spcBef>
              <a:spcAft>
                <a:spcPts val="0"/>
              </a:spcAft>
              <a:buClr>
                <a:srgbClr val="000000"/>
              </a:buClr>
              <a:buSzPct val="100000"/>
              <a:buFont typeface="Arial"/>
              <a:buChar char="•"/>
            </a:pPr>
            <a:r>
              <a:rPr b="0" i="0" lang="en-US" sz="3200" u="none" cap="none" strike="noStrike">
                <a:solidFill>
                  <a:srgbClr val="000000"/>
                </a:solidFill>
                <a:latin typeface="Calibri"/>
                <a:ea typeface="Calibri"/>
                <a:cs typeface="Calibri"/>
                <a:sym typeface="Calibri"/>
              </a:rPr>
              <a:t>By new keyword</a:t>
            </a:r>
            <a:endParaRPr b="0" i="0" sz="1400" u="none" cap="none" strike="noStrike">
              <a:solidFill>
                <a:srgbClr val="000000"/>
              </a:solidFill>
              <a:latin typeface="Arial"/>
              <a:ea typeface="Arial"/>
              <a:cs typeface="Arial"/>
              <a:sym typeface="Arial"/>
            </a:endParaRPr>
          </a:p>
        </p:txBody>
      </p:sp>
      <p:sp>
        <p:nvSpPr>
          <p:cNvPr id="98" name="Google Shape;98;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Sindhu K, Dept. of ISE</a:t>
            </a:r>
            <a:endParaRPr/>
          </a:p>
        </p:txBody>
      </p:sp>
      <p:sp>
        <p:nvSpPr>
          <p:cNvPr id="99" name="Google Shape;99;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0"/>
          <p:cNvSpPr txBox="1"/>
          <p:nvPr/>
        </p:nvSpPr>
        <p:spPr>
          <a:xfrm>
            <a:off x="578498" y="237358"/>
            <a:ext cx="10655559" cy="518422"/>
          </a:xfrm>
          <a:prstGeom prst="rect">
            <a:avLst/>
          </a:prstGeom>
          <a:noFill/>
          <a:ln>
            <a:noFill/>
          </a:ln>
        </p:spPr>
        <p:txBody>
          <a:bodyPr anchorCtr="0" anchor="ctr" bIns="45700" lIns="91425" spcFirstLastPara="1" rIns="91425" wrap="square" tIns="45700">
            <a:normAutofit fontScale="75000" lnSpcReduction="20000"/>
          </a:bodyPr>
          <a:lstStyle/>
          <a:p>
            <a:pPr indent="0" lvl="0" marL="0" marR="0" rtl="0" algn="ctr">
              <a:lnSpc>
                <a:spcPct val="100000"/>
              </a:lnSpc>
              <a:spcBef>
                <a:spcPts val="0"/>
              </a:spcBef>
              <a:spcAft>
                <a:spcPts val="0"/>
              </a:spcAft>
              <a:buClr>
                <a:srgbClr val="000000"/>
              </a:buClr>
              <a:buSzPct val="100000"/>
              <a:buFont typeface="Arial"/>
              <a:buNone/>
            </a:pPr>
            <a:r>
              <a:rPr b="1" i="0" lang="en-US" sz="4400" u="none" cap="none" strike="noStrike">
                <a:solidFill>
                  <a:srgbClr val="000000"/>
                </a:solidFill>
                <a:latin typeface="Calibri"/>
                <a:ea typeface="Calibri"/>
                <a:cs typeface="Calibri"/>
                <a:sym typeface="Calibri"/>
              </a:rPr>
              <a:t>String Handling</a:t>
            </a:r>
            <a:endParaRPr b="0" i="0" sz="4400" u="none" cap="none" strike="noStrike">
              <a:solidFill>
                <a:srgbClr val="000000"/>
              </a:solidFill>
              <a:latin typeface="Calibri"/>
              <a:ea typeface="Calibri"/>
              <a:cs typeface="Calibri"/>
              <a:sym typeface="Calibri"/>
            </a:endParaRPr>
          </a:p>
        </p:txBody>
      </p:sp>
      <p:sp>
        <p:nvSpPr>
          <p:cNvPr id="105" name="Google Shape;105;p10"/>
          <p:cNvSpPr txBox="1"/>
          <p:nvPr/>
        </p:nvSpPr>
        <p:spPr>
          <a:xfrm>
            <a:off x="403875" y="947205"/>
            <a:ext cx="10512941" cy="4315868"/>
          </a:xfrm>
          <a:prstGeom prst="rect">
            <a:avLst/>
          </a:prstGeom>
          <a:noFill/>
          <a:ln>
            <a:noFill/>
          </a:ln>
        </p:spPr>
        <p:txBody>
          <a:bodyPr anchorCtr="0" anchor="t" bIns="91425" lIns="91425" spcFirstLastPara="1" rIns="91425" wrap="square" tIns="91425">
            <a:noAutofit/>
          </a:bodyPr>
          <a:lstStyle/>
          <a:p>
            <a:pPr indent="0" lvl="0" marL="0" marR="0" rtl="0" algn="just">
              <a:lnSpc>
                <a:spcPct val="90000"/>
              </a:lnSpc>
              <a:spcBef>
                <a:spcPts val="600"/>
              </a:spcBef>
              <a:spcAft>
                <a:spcPts val="0"/>
              </a:spcAft>
              <a:buClr>
                <a:schemeClr val="dk1"/>
              </a:buClr>
              <a:buSzPts val="1100"/>
              <a:buFont typeface="Arial"/>
              <a:buNone/>
            </a:pPr>
            <a:r>
              <a:rPr b="1" i="0" lang="en-US" sz="2000" u="none" cap="none" strike="noStrike">
                <a:solidFill>
                  <a:schemeClr val="dk1"/>
                </a:solidFill>
                <a:latin typeface="Times New Roman"/>
                <a:ea typeface="Times New Roman"/>
                <a:cs typeface="Times New Roman"/>
                <a:sym typeface="Times New Roman"/>
              </a:rPr>
              <a:t>Heap Memory</a:t>
            </a:r>
            <a:endParaRPr b="0" i="0" sz="1400" u="none" cap="none" strike="noStrike">
              <a:solidFill>
                <a:srgbClr val="000000"/>
              </a:solidFill>
              <a:latin typeface="Arial"/>
              <a:ea typeface="Arial"/>
              <a:cs typeface="Arial"/>
              <a:sym typeface="Arial"/>
            </a:endParaRPr>
          </a:p>
          <a:p>
            <a:pPr indent="-330200" lvl="0" marL="457200" marR="0" rtl="0" algn="l">
              <a:lnSpc>
                <a:spcPct val="90000"/>
              </a:lnSpc>
              <a:spcBef>
                <a:spcPts val="800"/>
              </a:spcBef>
              <a:spcAft>
                <a:spcPts val="0"/>
              </a:spcAft>
              <a:buClr>
                <a:schemeClr val="dk1"/>
              </a:buClr>
              <a:buSzPts val="1600"/>
              <a:buFont typeface="Times New Roman"/>
              <a:buChar char="●"/>
            </a:pPr>
            <a:r>
              <a:rPr b="0" i="0" lang="en-US" sz="2000" u="none" cap="none" strike="noStrike">
                <a:solidFill>
                  <a:schemeClr val="dk1"/>
                </a:solidFill>
                <a:latin typeface="Times New Roman"/>
                <a:ea typeface="Times New Roman"/>
                <a:cs typeface="Times New Roman"/>
                <a:sym typeface="Times New Roman"/>
              </a:rPr>
              <a:t>The heap memory is a run time data area from which the memory for all java class instances and arrays is allocated.</a:t>
            </a:r>
            <a:endParaRPr b="0" i="0" sz="1400" u="none" cap="none" strike="noStrike">
              <a:solidFill>
                <a:srgbClr val="000000"/>
              </a:solidFill>
              <a:latin typeface="Arial"/>
              <a:ea typeface="Arial"/>
              <a:cs typeface="Arial"/>
              <a:sym typeface="Arial"/>
            </a:endParaRPr>
          </a:p>
          <a:p>
            <a:pPr indent="-330200" lvl="0" marL="457200" marR="0" rtl="0" algn="l">
              <a:lnSpc>
                <a:spcPct val="90000"/>
              </a:lnSpc>
              <a:spcBef>
                <a:spcPts val="0"/>
              </a:spcBef>
              <a:spcAft>
                <a:spcPts val="0"/>
              </a:spcAft>
              <a:buClr>
                <a:schemeClr val="dk1"/>
              </a:buClr>
              <a:buSzPts val="1600"/>
              <a:buFont typeface="Times New Roman"/>
              <a:buChar char="●"/>
            </a:pPr>
            <a:r>
              <a:rPr b="0" i="0" lang="en-US" sz="2000" u="none" cap="none" strike="noStrike">
                <a:solidFill>
                  <a:schemeClr val="dk1"/>
                </a:solidFill>
                <a:latin typeface="Times New Roman"/>
                <a:ea typeface="Times New Roman"/>
                <a:cs typeface="Times New Roman"/>
                <a:sym typeface="Times New Roman"/>
              </a:rPr>
              <a:t>The heap is created when the JVM starts up and may increase or decrease in size while the application runs.</a:t>
            </a:r>
            <a:endParaRPr b="0" i="0" sz="1400" u="none" cap="none" strike="noStrike">
              <a:solidFill>
                <a:srgbClr val="000000"/>
              </a:solidFill>
              <a:latin typeface="Arial"/>
              <a:ea typeface="Arial"/>
              <a:cs typeface="Arial"/>
              <a:sym typeface="Arial"/>
            </a:endParaRPr>
          </a:p>
          <a:p>
            <a:pPr indent="-330200" lvl="0" marL="457200" marR="0" rtl="0" algn="l">
              <a:lnSpc>
                <a:spcPct val="90000"/>
              </a:lnSpc>
              <a:spcBef>
                <a:spcPts val="0"/>
              </a:spcBef>
              <a:spcAft>
                <a:spcPts val="0"/>
              </a:spcAft>
              <a:buClr>
                <a:schemeClr val="dk1"/>
              </a:buClr>
              <a:buSzPts val="1600"/>
              <a:buFont typeface="Times New Roman"/>
              <a:buChar char="●"/>
            </a:pPr>
            <a:r>
              <a:rPr b="0" i="0" lang="en-US" sz="2000" u="none" cap="none" strike="noStrike">
                <a:solidFill>
                  <a:schemeClr val="dk1"/>
                </a:solidFill>
                <a:latin typeface="Times New Roman"/>
                <a:ea typeface="Times New Roman"/>
                <a:cs typeface="Times New Roman"/>
                <a:sym typeface="Times New Roman"/>
              </a:rPr>
              <a:t>By default, the maximum heap size is set to 64 MB. </a:t>
            </a:r>
            <a:endParaRPr b="0" i="0" sz="1400" u="none" cap="none" strike="noStrike">
              <a:solidFill>
                <a:srgbClr val="000000"/>
              </a:solidFill>
              <a:latin typeface="Arial"/>
              <a:ea typeface="Arial"/>
              <a:cs typeface="Arial"/>
              <a:sym typeface="Arial"/>
            </a:endParaRPr>
          </a:p>
          <a:p>
            <a:pPr indent="0" lvl="0" marL="0" marR="0" rtl="0" algn="just">
              <a:lnSpc>
                <a:spcPct val="90000"/>
              </a:lnSpc>
              <a:spcBef>
                <a:spcPts val="1200"/>
              </a:spcBef>
              <a:spcAft>
                <a:spcPts val="0"/>
              </a:spcAft>
              <a:buClr>
                <a:schemeClr val="dk1"/>
              </a:buClr>
              <a:buSzPts val="1100"/>
              <a:buFont typeface="Arial"/>
              <a:buNone/>
            </a:pPr>
            <a:r>
              <a:rPr b="1" i="0" lang="en-US" sz="2000" u="none" cap="none" strike="noStrike">
                <a:solidFill>
                  <a:schemeClr val="dk1"/>
                </a:solidFill>
                <a:latin typeface="Times New Roman"/>
                <a:ea typeface="Times New Roman"/>
                <a:cs typeface="Times New Roman"/>
                <a:sym typeface="Times New Roman"/>
              </a:rPr>
              <a:t>String Constant Pool</a:t>
            </a:r>
            <a:endParaRPr b="0" i="0" sz="1400" u="none" cap="none" strike="noStrike">
              <a:solidFill>
                <a:srgbClr val="000000"/>
              </a:solidFill>
              <a:latin typeface="Arial"/>
              <a:ea typeface="Arial"/>
              <a:cs typeface="Arial"/>
              <a:sym typeface="Arial"/>
            </a:endParaRPr>
          </a:p>
          <a:p>
            <a:pPr indent="-330200" lvl="0" marL="457200" marR="0" rtl="0" algn="l">
              <a:lnSpc>
                <a:spcPct val="90000"/>
              </a:lnSpc>
              <a:spcBef>
                <a:spcPts val="800"/>
              </a:spcBef>
              <a:spcAft>
                <a:spcPts val="0"/>
              </a:spcAft>
              <a:buClr>
                <a:schemeClr val="dk1"/>
              </a:buClr>
              <a:buSzPts val="1600"/>
              <a:buFont typeface="Times New Roman"/>
              <a:buChar char="●"/>
            </a:pPr>
            <a:r>
              <a:rPr b="0" i="0" lang="en-US" sz="2000" u="none" cap="none" strike="noStrike">
                <a:solidFill>
                  <a:schemeClr val="dk1"/>
                </a:solidFill>
                <a:latin typeface="Times New Roman"/>
                <a:ea typeface="Times New Roman"/>
                <a:cs typeface="Times New Roman"/>
                <a:sym typeface="Times New Roman"/>
              </a:rPr>
              <a:t>String uses a special memory location to reuse of String objects called String Constant Pool.</a:t>
            </a:r>
            <a:endParaRPr b="0" i="0" sz="1400" u="none" cap="none" strike="noStrike">
              <a:solidFill>
                <a:srgbClr val="000000"/>
              </a:solidFill>
              <a:latin typeface="Arial"/>
              <a:ea typeface="Arial"/>
              <a:cs typeface="Arial"/>
              <a:sym typeface="Arial"/>
            </a:endParaRPr>
          </a:p>
          <a:p>
            <a:pPr indent="-330200" lvl="0" marL="457200" marR="0" rtl="0" algn="l">
              <a:lnSpc>
                <a:spcPct val="90000"/>
              </a:lnSpc>
              <a:spcBef>
                <a:spcPts val="0"/>
              </a:spcBef>
              <a:spcAft>
                <a:spcPts val="0"/>
              </a:spcAft>
              <a:buClr>
                <a:schemeClr val="dk1"/>
              </a:buClr>
              <a:buSzPts val="1600"/>
              <a:buFont typeface="Times New Roman"/>
              <a:buChar char="●"/>
            </a:pPr>
            <a:r>
              <a:rPr b="0" i="0" lang="en-US" sz="2000" u="none" cap="none" strike="noStrike">
                <a:solidFill>
                  <a:schemeClr val="dk1"/>
                </a:solidFill>
                <a:latin typeface="Times New Roman"/>
                <a:ea typeface="Times New Roman"/>
                <a:cs typeface="Times New Roman"/>
                <a:sym typeface="Times New Roman"/>
              </a:rPr>
              <a:t>String objects created without the use of new keyword are stored in the String Constant Pool part of the heap.</a:t>
            </a:r>
            <a:endParaRPr b="0" i="0" sz="1400" u="none" cap="none" strike="noStrike">
              <a:solidFill>
                <a:srgbClr val="000000"/>
              </a:solidFill>
              <a:latin typeface="Arial"/>
              <a:ea typeface="Arial"/>
              <a:cs typeface="Arial"/>
              <a:sym typeface="Arial"/>
            </a:endParaRPr>
          </a:p>
          <a:p>
            <a:pPr indent="-330200" lvl="0" marL="457200" marR="0" rtl="0" algn="l">
              <a:lnSpc>
                <a:spcPct val="90000"/>
              </a:lnSpc>
              <a:spcBef>
                <a:spcPts val="0"/>
              </a:spcBef>
              <a:spcAft>
                <a:spcPts val="0"/>
              </a:spcAft>
              <a:buClr>
                <a:schemeClr val="dk1"/>
              </a:buClr>
              <a:buSzPts val="1600"/>
              <a:buFont typeface="Times New Roman"/>
              <a:buChar char="●"/>
            </a:pPr>
            <a:r>
              <a:rPr b="0" i="0" lang="en-US" sz="2000" u="none" cap="none" strike="noStrike">
                <a:solidFill>
                  <a:schemeClr val="dk1"/>
                </a:solidFill>
                <a:latin typeface="Times New Roman"/>
                <a:ea typeface="Times New Roman"/>
                <a:cs typeface="Times New Roman"/>
                <a:sym typeface="Times New Roman"/>
              </a:rPr>
              <a:t>One of the important characteristics of String constant pool is that it does not create the same String object if there is already String constant in the pool</a:t>
            </a:r>
            <a:endParaRPr b="0" i="0" sz="1400" u="none" cap="none" strike="noStrike">
              <a:solidFill>
                <a:srgbClr val="000000"/>
              </a:solidFill>
              <a:latin typeface="Arial"/>
              <a:ea typeface="Arial"/>
              <a:cs typeface="Arial"/>
              <a:sym typeface="Arial"/>
            </a:endParaRPr>
          </a:p>
          <a:p>
            <a:pPr indent="0" lvl="0" marL="0" marR="0" rtl="0" algn="just">
              <a:lnSpc>
                <a:spcPct val="90000"/>
              </a:lnSpc>
              <a:spcBef>
                <a:spcPts val="1200"/>
              </a:spcBef>
              <a:spcAft>
                <a:spcPts val="0"/>
              </a:spcAft>
              <a:buClr>
                <a:schemeClr val="dk1"/>
              </a:buClr>
              <a:buSzPts val="1100"/>
              <a:buFont typeface="Arial"/>
              <a:buNone/>
            </a:pPr>
            <a:r>
              <a:t/>
            </a:r>
            <a:endParaRPr b="1" i="0" sz="1600" u="none" cap="none" strike="noStrike">
              <a:solidFill>
                <a:schemeClr val="dk1"/>
              </a:solidFill>
              <a:latin typeface="Times New Roman"/>
              <a:ea typeface="Times New Roman"/>
              <a:cs typeface="Times New Roman"/>
              <a:sym typeface="Times New Roman"/>
            </a:endParaRPr>
          </a:p>
          <a:p>
            <a:pPr indent="0" lvl="0" marL="0" marR="0" rtl="0" algn="l">
              <a:lnSpc>
                <a:spcPct val="90000"/>
              </a:lnSpc>
              <a:spcBef>
                <a:spcPts val="1200"/>
              </a:spcBef>
              <a:spcAft>
                <a:spcPts val="1600"/>
              </a:spcAft>
              <a:buClr>
                <a:schemeClr val="dk1"/>
              </a:buClr>
              <a:buSzPts val="1600"/>
              <a:buFont typeface="Arial"/>
              <a:buNone/>
            </a:pPr>
            <a:r>
              <a:t/>
            </a:r>
            <a:endParaRPr b="0" i="0" sz="1600" u="none" cap="none" strike="noStrike">
              <a:solidFill>
                <a:schemeClr val="dk1"/>
              </a:solidFill>
              <a:latin typeface="Calibri"/>
              <a:ea typeface="Calibri"/>
              <a:cs typeface="Calibri"/>
              <a:sym typeface="Calibri"/>
            </a:endParaRPr>
          </a:p>
        </p:txBody>
      </p:sp>
      <p:sp>
        <p:nvSpPr>
          <p:cNvPr id="106" name="Google Shape;106;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Sindhu K, Dept. of ISE</a:t>
            </a:r>
            <a:endParaRPr/>
          </a:p>
        </p:txBody>
      </p:sp>
      <p:sp>
        <p:nvSpPr>
          <p:cNvPr id="107" name="Google Shape;107;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3"/>
          <p:cNvSpPr txBox="1"/>
          <p:nvPr/>
        </p:nvSpPr>
        <p:spPr>
          <a:xfrm>
            <a:off x="634481" y="274680"/>
            <a:ext cx="10655559" cy="518422"/>
          </a:xfrm>
          <a:prstGeom prst="rect">
            <a:avLst/>
          </a:prstGeom>
          <a:noFill/>
          <a:ln>
            <a:noFill/>
          </a:ln>
        </p:spPr>
        <p:txBody>
          <a:bodyPr anchorCtr="0" anchor="ctr" bIns="45700" lIns="91425" spcFirstLastPara="1" rIns="91425" wrap="square" tIns="45700">
            <a:normAutofit fontScale="75000" lnSpcReduction="20000"/>
          </a:bodyPr>
          <a:lstStyle/>
          <a:p>
            <a:pPr indent="0" lvl="0" marL="0" marR="0" rtl="0" algn="ctr">
              <a:lnSpc>
                <a:spcPct val="100000"/>
              </a:lnSpc>
              <a:spcBef>
                <a:spcPts val="0"/>
              </a:spcBef>
              <a:spcAft>
                <a:spcPts val="0"/>
              </a:spcAft>
              <a:buClr>
                <a:srgbClr val="000000"/>
              </a:buClr>
              <a:buSzPct val="100000"/>
              <a:buFont typeface="Arial"/>
              <a:buNone/>
            </a:pPr>
            <a:r>
              <a:rPr b="1" i="0" lang="en-US" sz="4400" u="none" cap="none" strike="noStrike">
                <a:solidFill>
                  <a:srgbClr val="000000"/>
                </a:solidFill>
                <a:latin typeface="Calibri"/>
                <a:ea typeface="Calibri"/>
                <a:cs typeface="Calibri"/>
                <a:sym typeface="Calibri"/>
              </a:rPr>
              <a:t>String Handling</a:t>
            </a:r>
            <a:endParaRPr b="0" i="0" sz="4400" u="none" cap="none" strike="noStrike">
              <a:solidFill>
                <a:srgbClr val="000000"/>
              </a:solidFill>
              <a:latin typeface="Calibri"/>
              <a:ea typeface="Calibri"/>
              <a:cs typeface="Calibri"/>
              <a:sym typeface="Calibri"/>
            </a:endParaRPr>
          </a:p>
        </p:txBody>
      </p:sp>
      <p:sp>
        <p:nvSpPr>
          <p:cNvPr id="113" name="Google Shape;113;p3"/>
          <p:cNvSpPr txBox="1"/>
          <p:nvPr/>
        </p:nvSpPr>
        <p:spPr>
          <a:xfrm>
            <a:off x="401799" y="651275"/>
            <a:ext cx="11445549" cy="5835938"/>
          </a:xfrm>
          <a:prstGeom prst="rect">
            <a:avLst/>
          </a:prstGeom>
          <a:noFill/>
          <a:ln>
            <a:noFill/>
          </a:ln>
        </p:spPr>
        <p:txBody>
          <a:bodyPr anchorCtr="0" anchor="t" bIns="45700" lIns="91425" spcFirstLastPara="1" rIns="91425" wrap="square" tIns="45700">
            <a:normAutofit fontScale="94500"/>
          </a:bodyPr>
          <a:lstStyle/>
          <a:p>
            <a:pPr indent="0" lvl="0" marL="0" marR="0" rtl="0" algn="l">
              <a:lnSpc>
                <a:spcPct val="100000"/>
              </a:lnSpc>
              <a:spcBef>
                <a:spcPts val="0"/>
              </a:spcBef>
              <a:spcAft>
                <a:spcPts val="0"/>
              </a:spcAft>
              <a:buClr>
                <a:srgbClr val="000000"/>
              </a:buClr>
              <a:buSzPct val="100000"/>
              <a:buFont typeface="Arial"/>
              <a:buNone/>
            </a:pPr>
            <a:r>
              <a:rPr b="1" i="0" lang="en-US" sz="2100" u="none" cap="none" strike="noStrike">
                <a:solidFill>
                  <a:srgbClr val="000000"/>
                </a:solidFill>
                <a:latin typeface="Calibri"/>
                <a:ea typeface="Calibri"/>
                <a:cs typeface="Calibri"/>
                <a:sym typeface="Calibri"/>
              </a:rPr>
              <a:t>1) String Literal</a:t>
            </a:r>
            <a:endParaRPr b="0" i="0" sz="1400" u="none" cap="none" strike="noStrike">
              <a:solidFill>
                <a:srgbClr val="000000"/>
              </a:solidFill>
              <a:latin typeface="Arial"/>
              <a:ea typeface="Arial"/>
              <a:cs typeface="Arial"/>
              <a:sym typeface="Arial"/>
            </a:endParaRPr>
          </a:p>
          <a:p>
            <a:pPr indent="-342931" lvl="0" marL="342900" marR="0" rtl="0" algn="l">
              <a:lnSpc>
                <a:spcPct val="100000"/>
              </a:lnSpc>
              <a:spcBef>
                <a:spcPts val="641"/>
              </a:spcBef>
              <a:spcAft>
                <a:spcPts val="0"/>
              </a:spcAft>
              <a:buClr>
                <a:srgbClr val="000000"/>
              </a:buClr>
              <a:buSzPct val="100000"/>
              <a:buFont typeface="Arial"/>
              <a:buChar char="•"/>
            </a:pPr>
            <a:r>
              <a:rPr b="0" i="0" lang="en-US" sz="2100" u="none" cap="none" strike="noStrike">
                <a:solidFill>
                  <a:srgbClr val="000000"/>
                </a:solidFill>
                <a:latin typeface="Calibri"/>
                <a:ea typeface="Calibri"/>
                <a:cs typeface="Calibri"/>
                <a:sym typeface="Calibri"/>
              </a:rPr>
              <a:t>Java String literal is created by using double quotes. For Example: String s="welcome";  </a:t>
            </a:r>
            <a:endParaRPr b="0" i="0" sz="1400" u="none" cap="none" strike="noStrike">
              <a:solidFill>
                <a:srgbClr val="000000"/>
              </a:solidFill>
              <a:latin typeface="Arial"/>
              <a:ea typeface="Arial"/>
              <a:cs typeface="Arial"/>
              <a:sym typeface="Arial"/>
            </a:endParaRPr>
          </a:p>
          <a:p>
            <a:pPr indent="-342931" lvl="0" marL="342900" marR="0" rtl="0" algn="l">
              <a:lnSpc>
                <a:spcPct val="100000"/>
              </a:lnSpc>
              <a:spcBef>
                <a:spcPts val="641"/>
              </a:spcBef>
              <a:spcAft>
                <a:spcPts val="0"/>
              </a:spcAft>
              <a:buClr>
                <a:srgbClr val="000000"/>
              </a:buClr>
              <a:buSzPct val="100000"/>
              <a:buFont typeface="Arial"/>
              <a:buChar char="•"/>
            </a:pPr>
            <a:r>
              <a:rPr b="0" i="0" lang="en-US" sz="2100" u="none" cap="none" strike="noStrike">
                <a:solidFill>
                  <a:srgbClr val="000000"/>
                </a:solidFill>
                <a:latin typeface="Calibri"/>
                <a:ea typeface="Calibri"/>
                <a:cs typeface="Calibri"/>
                <a:sym typeface="Calibri"/>
              </a:rPr>
              <a:t>Each time you create a string literal, the JVM checks the "string constant pool" first. </a:t>
            </a:r>
            <a:endParaRPr b="0" i="0" sz="1400" u="none" cap="none" strike="noStrike">
              <a:solidFill>
                <a:srgbClr val="000000"/>
              </a:solidFill>
              <a:latin typeface="Arial"/>
              <a:ea typeface="Arial"/>
              <a:cs typeface="Arial"/>
              <a:sym typeface="Arial"/>
            </a:endParaRPr>
          </a:p>
          <a:p>
            <a:pPr indent="-342931" lvl="0" marL="342900" marR="0" rtl="0" algn="l">
              <a:lnSpc>
                <a:spcPct val="100000"/>
              </a:lnSpc>
              <a:spcBef>
                <a:spcPts val="641"/>
              </a:spcBef>
              <a:spcAft>
                <a:spcPts val="0"/>
              </a:spcAft>
              <a:buClr>
                <a:srgbClr val="000000"/>
              </a:buClr>
              <a:buSzPct val="100000"/>
              <a:buFont typeface="Arial"/>
              <a:buChar char="•"/>
            </a:pPr>
            <a:r>
              <a:rPr b="0" i="0" lang="en-US" sz="2100" u="none" cap="none" strike="noStrike">
                <a:solidFill>
                  <a:srgbClr val="000000"/>
                </a:solidFill>
                <a:latin typeface="Calibri"/>
                <a:ea typeface="Calibri"/>
                <a:cs typeface="Calibri"/>
                <a:sym typeface="Calibri"/>
              </a:rPr>
              <a:t>If the string already exists in the pool, a reference to the pooled instance is returned. </a:t>
            </a:r>
            <a:endParaRPr b="0" i="0" sz="1400" u="none" cap="none" strike="noStrike">
              <a:solidFill>
                <a:srgbClr val="000000"/>
              </a:solidFill>
              <a:latin typeface="Arial"/>
              <a:ea typeface="Arial"/>
              <a:cs typeface="Arial"/>
              <a:sym typeface="Arial"/>
            </a:endParaRPr>
          </a:p>
          <a:p>
            <a:pPr indent="-342931" lvl="0" marL="342900" marR="0" rtl="0" algn="l">
              <a:lnSpc>
                <a:spcPct val="100000"/>
              </a:lnSpc>
              <a:spcBef>
                <a:spcPts val="641"/>
              </a:spcBef>
              <a:spcAft>
                <a:spcPts val="0"/>
              </a:spcAft>
              <a:buClr>
                <a:srgbClr val="000000"/>
              </a:buClr>
              <a:buSzPct val="100000"/>
              <a:buFont typeface="Arial"/>
              <a:buChar char="•"/>
            </a:pPr>
            <a:r>
              <a:rPr b="0" i="0" lang="en-US" sz="2100" u="none" cap="none" strike="noStrike">
                <a:solidFill>
                  <a:srgbClr val="000000"/>
                </a:solidFill>
                <a:latin typeface="Calibri"/>
                <a:ea typeface="Calibri"/>
                <a:cs typeface="Calibri"/>
                <a:sym typeface="Calibri"/>
              </a:rPr>
              <a:t>If the string doesn't exist in the pool, a new string instance is created and placed in the pool.</a:t>
            </a:r>
            <a:endParaRPr b="0" i="0" sz="1400" u="none" cap="none" strike="noStrike">
              <a:solidFill>
                <a:srgbClr val="000000"/>
              </a:solidFill>
              <a:latin typeface="Arial"/>
              <a:ea typeface="Arial"/>
              <a:cs typeface="Arial"/>
              <a:sym typeface="Arial"/>
            </a:endParaRPr>
          </a:p>
        </p:txBody>
      </p:sp>
      <p:pic>
        <p:nvPicPr>
          <p:cNvPr id="114" name="Google Shape;114;p3"/>
          <p:cNvPicPr preferRelativeResize="0"/>
          <p:nvPr/>
        </p:nvPicPr>
        <p:blipFill rotWithShape="1">
          <a:blip r:embed="rId3">
            <a:alphaModFix/>
          </a:blip>
          <a:srcRect b="0" l="0" r="0" t="0"/>
          <a:stretch/>
        </p:blipFill>
        <p:spPr>
          <a:xfrm>
            <a:off x="666748" y="2616639"/>
            <a:ext cx="5457825" cy="838200"/>
          </a:xfrm>
          <a:prstGeom prst="rect">
            <a:avLst/>
          </a:prstGeom>
          <a:noFill/>
          <a:ln>
            <a:noFill/>
          </a:ln>
        </p:spPr>
      </p:pic>
      <p:pic>
        <p:nvPicPr>
          <p:cNvPr id="115" name="Google Shape;115;p3"/>
          <p:cNvPicPr preferRelativeResize="0"/>
          <p:nvPr/>
        </p:nvPicPr>
        <p:blipFill rotWithShape="1">
          <a:blip r:embed="rId4">
            <a:alphaModFix/>
          </a:blip>
          <a:srcRect b="0" l="0" r="0" t="0"/>
          <a:stretch/>
        </p:blipFill>
        <p:spPr>
          <a:xfrm>
            <a:off x="7905751" y="2541357"/>
            <a:ext cx="4289360" cy="3762285"/>
          </a:xfrm>
          <a:prstGeom prst="rect">
            <a:avLst/>
          </a:prstGeom>
          <a:noFill/>
          <a:ln>
            <a:noFill/>
          </a:ln>
        </p:spPr>
      </p:pic>
      <p:pic>
        <p:nvPicPr>
          <p:cNvPr id="116" name="Google Shape;116;p3"/>
          <p:cNvPicPr preferRelativeResize="0"/>
          <p:nvPr/>
        </p:nvPicPr>
        <p:blipFill rotWithShape="1">
          <a:blip r:embed="rId5">
            <a:alphaModFix/>
          </a:blip>
          <a:srcRect b="0" l="0" r="0" t="0"/>
          <a:stretch/>
        </p:blipFill>
        <p:spPr>
          <a:xfrm>
            <a:off x="437961" y="3456200"/>
            <a:ext cx="6823978" cy="1428750"/>
          </a:xfrm>
          <a:prstGeom prst="rect">
            <a:avLst/>
          </a:prstGeom>
          <a:noFill/>
          <a:ln>
            <a:noFill/>
          </a:ln>
        </p:spPr>
      </p:pic>
      <p:pic>
        <p:nvPicPr>
          <p:cNvPr id="117" name="Google Shape;117;p3"/>
          <p:cNvPicPr preferRelativeResize="0"/>
          <p:nvPr/>
        </p:nvPicPr>
        <p:blipFill rotWithShape="1">
          <a:blip r:embed="rId6">
            <a:alphaModFix/>
          </a:blip>
          <a:srcRect b="0" l="0" r="0" t="0"/>
          <a:stretch/>
        </p:blipFill>
        <p:spPr>
          <a:xfrm>
            <a:off x="112742" y="4997388"/>
            <a:ext cx="8248650" cy="561975"/>
          </a:xfrm>
          <a:prstGeom prst="rect">
            <a:avLst/>
          </a:prstGeom>
          <a:noFill/>
          <a:ln>
            <a:noFill/>
          </a:ln>
        </p:spPr>
      </p:pic>
      <p:pic>
        <p:nvPicPr>
          <p:cNvPr id="118" name="Google Shape;118;p3"/>
          <p:cNvPicPr preferRelativeResize="0"/>
          <p:nvPr/>
        </p:nvPicPr>
        <p:blipFill rotWithShape="1">
          <a:blip r:embed="rId7">
            <a:alphaModFix/>
          </a:blip>
          <a:srcRect b="0" l="0" r="0" t="0"/>
          <a:stretch/>
        </p:blipFill>
        <p:spPr>
          <a:xfrm>
            <a:off x="112742" y="5475798"/>
            <a:ext cx="9272296" cy="1011415"/>
          </a:xfrm>
          <a:prstGeom prst="rect">
            <a:avLst/>
          </a:prstGeom>
          <a:noFill/>
          <a:ln>
            <a:noFill/>
          </a:ln>
        </p:spPr>
      </p:pic>
      <p:sp>
        <p:nvSpPr>
          <p:cNvPr id="119" name="Google Shape;119;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Sindhu K, Dept. of ISE</a:t>
            </a:r>
            <a:endParaRPr/>
          </a:p>
        </p:txBody>
      </p:sp>
      <p:sp>
        <p:nvSpPr>
          <p:cNvPr id="120" name="Google Shape;120;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4"/>
          <p:cNvSpPr txBox="1"/>
          <p:nvPr/>
        </p:nvSpPr>
        <p:spPr>
          <a:xfrm>
            <a:off x="634481" y="274680"/>
            <a:ext cx="10655559" cy="518422"/>
          </a:xfrm>
          <a:prstGeom prst="rect">
            <a:avLst/>
          </a:prstGeom>
          <a:noFill/>
          <a:ln>
            <a:noFill/>
          </a:ln>
        </p:spPr>
        <p:txBody>
          <a:bodyPr anchorCtr="0" anchor="ctr" bIns="45700" lIns="91425" spcFirstLastPara="1" rIns="91425" wrap="square" tIns="45700">
            <a:normAutofit fontScale="75000" lnSpcReduction="20000"/>
          </a:bodyPr>
          <a:lstStyle/>
          <a:p>
            <a:pPr indent="0" lvl="0" marL="0" marR="0" rtl="0" algn="ctr">
              <a:lnSpc>
                <a:spcPct val="100000"/>
              </a:lnSpc>
              <a:spcBef>
                <a:spcPts val="0"/>
              </a:spcBef>
              <a:spcAft>
                <a:spcPts val="0"/>
              </a:spcAft>
              <a:buClr>
                <a:srgbClr val="000000"/>
              </a:buClr>
              <a:buSzPct val="100000"/>
              <a:buFont typeface="Arial"/>
              <a:buNone/>
            </a:pPr>
            <a:r>
              <a:rPr b="1" i="0" lang="en-US" sz="4400" u="none" cap="none" strike="noStrike">
                <a:solidFill>
                  <a:srgbClr val="000000"/>
                </a:solidFill>
                <a:latin typeface="Calibri"/>
                <a:ea typeface="Calibri"/>
                <a:cs typeface="Calibri"/>
                <a:sym typeface="Calibri"/>
              </a:rPr>
              <a:t>String Handling</a:t>
            </a:r>
            <a:endParaRPr b="0" i="0" sz="4400" u="none" cap="none" strike="noStrike">
              <a:solidFill>
                <a:srgbClr val="000000"/>
              </a:solidFill>
              <a:latin typeface="Calibri"/>
              <a:ea typeface="Calibri"/>
              <a:cs typeface="Calibri"/>
              <a:sym typeface="Calibri"/>
            </a:endParaRPr>
          </a:p>
        </p:txBody>
      </p:sp>
      <p:sp>
        <p:nvSpPr>
          <p:cNvPr id="126" name="Google Shape;126;p4"/>
          <p:cNvSpPr txBox="1"/>
          <p:nvPr/>
        </p:nvSpPr>
        <p:spPr>
          <a:xfrm>
            <a:off x="308490" y="877077"/>
            <a:ext cx="11445549" cy="5835938"/>
          </a:xfrm>
          <a:prstGeom prst="rect">
            <a:avLst/>
          </a:prstGeom>
          <a:noFill/>
          <a:ln>
            <a:noFill/>
          </a:ln>
        </p:spPr>
        <p:txBody>
          <a:bodyPr anchorCtr="0" anchor="t" bIns="45700" lIns="91425" spcFirstLastPara="1" rIns="91425" wrap="square" tIns="45700">
            <a:normAutofit fontScale="94500"/>
          </a:bodyPr>
          <a:lstStyle/>
          <a:p>
            <a:pPr indent="0" lvl="0" marL="0" marR="0" rtl="0" algn="l">
              <a:lnSpc>
                <a:spcPct val="100000"/>
              </a:lnSpc>
              <a:spcBef>
                <a:spcPts val="0"/>
              </a:spcBef>
              <a:spcAft>
                <a:spcPts val="0"/>
              </a:spcAft>
              <a:buClr>
                <a:srgbClr val="000000"/>
              </a:buClr>
              <a:buSzPct val="100000"/>
              <a:buFont typeface="Arial"/>
              <a:buNone/>
            </a:pPr>
            <a:r>
              <a:rPr b="1" i="0" lang="en-US" sz="2100" u="none" cap="none" strike="noStrike">
                <a:solidFill>
                  <a:srgbClr val="000000"/>
                </a:solidFill>
                <a:latin typeface="Calibri"/>
                <a:ea typeface="Calibri"/>
                <a:cs typeface="Calibri"/>
                <a:sym typeface="Calibri"/>
              </a:rPr>
              <a:t>2) By new keyword</a:t>
            </a:r>
            <a:endParaRPr b="0" i="0" sz="1400" u="none" cap="none" strike="noStrike">
              <a:solidFill>
                <a:srgbClr val="000000"/>
              </a:solidFill>
              <a:latin typeface="Arial"/>
              <a:ea typeface="Arial"/>
              <a:cs typeface="Arial"/>
              <a:sym typeface="Arial"/>
            </a:endParaRPr>
          </a:p>
          <a:p>
            <a:pPr indent="-342931" lvl="0" marL="342900" marR="0" rtl="0" algn="l">
              <a:lnSpc>
                <a:spcPct val="100000"/>
              </a:lnSpc>
              <a:spcBef>
                <a:spcPts val="641"/>
              </a:spcBef>
              <a:spcAft>
                <a:spcPts val="0"/>
              </a:spcAft>
              <a:buClr>
                <a:srgbClr val="000000"/>
              </a:buClr>
              <a:buSzPct val="100000"/>
              <a:buFont typeface="Arial"/>
              <a:buChar char="•"/>
            </a:pPr>
            <a:r>
              <a:rPr b="0" i="0" lang="en-US" sz="2100" u="none" cap="none" strike="noStrike">
                <a:solidFill>
                  <a:srgbClr val="000000"/>
                </a:solidFill>
                <a:latin typeface="Calibri"/>
                <a:ea typeface="Calibri"/>
                <a:cs typeface="Calibri"/>
                <a:sym typeface="Calibri"/>
              </a:rPr>
              <a:t>String s=new String("Welcome");//creates two objects and one reference variable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41"/>
              </a:spcBef>
              <a:spcAft>
                <a:spcPts val="0"/>
              </a:spcAft>
              <a:buClr>
                <a:srgbClr val="000000"/>
              </a:buClr>
              <a:buSzPct val="100000"/>
              <a:buFont typeface="Arial"/>
              <a:buNone/>
            </a:pPr>
            <a:r>
              <a:t/>
            </a:r>
            <a:endParaRPr b="0" i="0" sz="2100" u="none" cap="none" strike="noStrike">
              <a:solidFill>
                <a:srgbClr val="000000"/>
              </a:solidFill>
              <a:latin typeface="Calibri"/>
              <a:ea typeface="Calibri"/>
              <a:cs typeface="Calibri"/>
              <a:sym typeface="Calibri"/>
            </a:endParaRPr>
          </a:p>
          <a:p>
            <a:pPr indent="0" lvl="0" marL="0" marR="0" rtl="0" algn="l">
              <a:lnSpc>
                <a:spcPct val="100000"/>
              </a:lnSpc>
              <a:spcBef>
                <a:spcPts val="641"/>
              </a:spcBef>
              <a:spcAft>
                <a:spcPts val="0"/>
              </a:spcAft>
              <a:buClr>
                <a:srgbClr val="000000"/>
              </a:buClr>
              <a:buSzPct val="100000"/>
              <a:buFont typeface="Arial"/>
              <a:buNone/>
            </a:pPr>
            <a:r>
              <a:rPr b="0" i="0" lang="en-US" sz="2100" u="none" cap="none" strike="noStrike">
                <a:solidFill>
                  <a:srgbClr val="000000"/>
                </a:solidFill>
                <a:latin typeface="Calibri"/>
                <a:ea typeface="Calibri"/>
                <a:cs typeface="Calibri"/>
                <a:sym typeface="Calibri"/>
              </a:rPr>
              <a:t>In such case, JVM will create a new string object in normal (non-pool) heap memory, and the literal "Welcome" will be placed in the string constant pool. The variable s will refer to the object in a heap (non-pool).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41"/>
              </a:spcBef>
              <a:spcAft>
                <a:spcPts val="0"/>
              </a:spcAft>
              <a:buClr>
                <a:srgbClr val="000000"/>
              </a:buClr>
              <a:buSzPct val="100000"/>
              <a:buFont typeface="Arial"/>
              <a:buNone/>
            </a:pPr>
            <a:r>
              <a:t/>
            </a:r>
            <a:endParaRPr b="0" i="0" sz="2100" u="none" cap="none" strike="noStrike">
              <a:solidFill>
                <a:srgbClr val="000000"/>
              </a:solidFill>
              <a:latin typeface="Calibri"/>
              <a:ea typeface="Calibri"/>
              <a:cs typeface="Calibri"/>
              <a:sym typeface="Calibri"/>
            </a:endParaRPr>
          </a:p>
          <a:p>
            <a:pPr indent="0" lvl="0" marL="0" marR="0" rtl="0" algn="l">
              <a:lnSpc>
                <a:spcPct val="100000"/>
              </a:lnSpc>
              <a:spcBef>
                <a:spcPts val="641"/>
              </a:spcBef>
              <a:spcAft>
                <a:spcPts val="0"/>
              </a:spcAft>
              <a:buClr>
                <a:srgbClr val="000000"/>
              </a:buClr>
              <a:buSzPct val="100000"/>
              <a:buFont typeface="Arial"/>
              <a:buNone/>
            </a:pPr>
            <a:r>
              <a:t/>
            </a:r>
            <a:endParaRPr b="0" i="0" sz="2100" u="none" cap="none" strike="noStrike">
              <a:solidFill>
                <a:srgbClr val="000000"/>
              </a:solidFill>
              <a:latin typeface="Calibri"/>
              <a:ea typeface="Calibri"/>
              <a:cs typeface="Calibri"/>
              <a:sym typeface="Calibri"/>
            </a:endParaRPr>
          </a:p>
        </p:txBody>
      </p:sp>
      <p:pic>
        <p:nvPicPr>
          <p:cNvPr id="127" name="Google Shape;127;p4"/>
          <p:cNvPicPr preferRelativeResize="0"/>
          <p:nvPr/>
        </p:nvPicPr>
        <p:blipFill rotWithShape="1">
          <a:blip r:embed="rId3">
            <a:alphaModFix/>
          </a:blip>
          <a:srcRect b="0" l="0" r="0" t="0"/>
          <a:stretch/>
        </p:blipFill>
        <p:spPr>
          <a:xfrm>
            <a:off x="1986842" y="2943693"/>
            <a:ext cx="5730737" cy="3639627"/>
          </a:xfrm>
          <a:prstGeom prst="rect">
            <a:avLst/>
          </a:prstGeom>
          <a:noFill/>
          <a:ln>
            <a:noFill/>
          </a:ln>
        </p:spPr>
      </p:pic>
      <p:sp>
        <p:nvSpPr>
          <p:cNvPr id="128" name="Google Shape;128;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Sindhu K, Dept. of ISE</a:t>
            </a:r>
            <a:endParaRPr/>
          </a:p>
        </p:txBody>
      </p:sp>
      <p:sp>
        <p:nvSpPr>
          <p:cNvPr id="129" name="Google Shape;129;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5"/>
          <p:cNvSpPr txBox="1"/>
          <p:nvPr/>
        </p:nvSpPr>
        <p:spPr>
          <a:xfrm>
            <a:off x="634481" y="274680"/>
            <a:ext cx="10655559" cy="518422"/>
          </a:xfrm>
          <a:prstGeom prst="rect">
            <a:avLst/>
          </a:prstGeom>
          <a:noFill/>
          <a:ln>
            <a:noFill/>
          </a:ln>
        </p:spPr>
        <p:txBody>
          <a:bodyPr anchorCtr="0" anchor="ctr" bIns="45700" lIns="91425" spcFirstLastPara="1" rIns="91425" wrap="square" tIns="45700">
            <a:normAutofit fontScale="75000" lnSpcReduction="20000"/>
          </a:bodyPr>
          <a:lstStyle/>
          <a:p>
            <a:pPr indent="0" lvl="0" marL="0" marR="0" rtl="0" algn="ctr">
              <a:lnSpc>
                <a:spcPct val="100000"/>
              </a:lnSpc>
              <a:spcBef>
                <a:spcPts val="0"/>
              </a:spcBef>
              <a:spcAft>
                <a:spcPts val="0"/>
              </a:spcAft>
              <a:buClr>
                <a:srgbClr val="000000"/>
              </a:buClr>
              <a:buSzPct val="100000"/>
              <a:buFont typeface="Arial"/>
              <a:buNone/>
            </a:pPr>
            <a:r>
              <a:rPr b="1" i="0" lang="en-US" sz="4400" u="none" cap="none" strike="noStrike">
                <a:solidFill>
                  <a:srgbClr val="000000"/>
                </a:solidFill>
                <a:latin typeface="Calibri"/>
                <a:ea typeface="Calibri"/>
                <a:cs typeface="Calibri"/>
                <a:sym typeface="Calibri"/>
              </a:rPr>
              <a:t>String Handling</a:t>
            </a:r>
            <a:endParaRPr b="0" i="0" sz="4400" u="none" cap="none" strike="noStrike">
              <a:solidFill>
                <a:srgbClr val="000000"/>
              </a:solidFill>
              <a:latin typeface="Calibri"/>
              <a:ea typeface="Calibri"/>
              <a:cs typeface="Calibri"/>
              <a:sym typeface="Calibri"/>
            </a:endParaRPr>
          </a:p>
        </p:txBody>
      </p:sp>
      <p:sp>
        <p:nvSpPr>
          <p:cNvPr id="135" name="Google Shape;135;p5"/>
          <p:cNvSpPr txBox="1"/>
          <p:nvPr/>
        </p:nvSpPr>
        <p:spPr>
          <a:xfrm>
            <a:off x="308490" y="877077"/>
            <a:ext cx="11445549" cy="5835938"/>
          </a:xfrm>
          <a:prstGeom prst="rect">
            <a:avLst/>
          </a:prstGeom>
          <a:noFill/>
          <a:ln>
            <a:noFill/>
          </a:ln>
        </p:spPr>
        <p:txBody>
          <a:bodyPr anchorCtr="0" anchor="t" bIns="45700" lIns="91425" spcFirstLastPara="1" rIns="91425" wrap="square" tIns="45700">
            <a:normAutofit fontScale="94500"/>
          </a:bodyPr>
          <a:lstStyle/>
          <a:p>
            <a:pPr indent="0" lvl="0" marL="0" marR="0" rtl="0" algn="l">
              <a:lnSpc>
                <a:spcPct val="100000"/>
              </a:lnSpc>
              <a:spcBef>
                <a:spcPts val="0"/>
              </a:spcBef>
              <a:spcAft>
                <a:spcPts val="0"/>
              </a:spcAft>
              <a:buClr>
                <a:srgbClr val="000000"/>
              </a:buClr>
              <a:buSzPct val="100000"/>
              <a:buFont typeface="Arial"/>
              <a:buNone/>
            </a:pPr>
            <a:r>
              <a:rPr b="1" i="0" lang="en-US" sz="2100" u="none" cap="none" strike="noStrike">
                <a:solidFill>
                  <a:srgbClr val="000000"/>
                </a:solidFill>
                <a:latin typeface="Calibri"/>
                <a:ea typeface="Calibri"/>
                <a:cs typeface="Calibri"/>
                <a:sym typeface="Calibri"/>
              </a:rPr>
              <a:t>2) By new keyword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41"/>
              </a:spcBef>
              <a:spcAft>
                <a:spcPts val="0"/>
              </a:spcAft>
              <a:buClr>
                <a:srgbClr val="000000"/>
              </a:buClr>
              <a:buSzPct val="100000"/>
              <a:buFont typeface="Arial"/>
              <a:buNone/>
            </a:pPr>
            <a:r>
              <a:t/>
            </a:r>
            <a:endParaRPr b="1" i="0" sz="2100" u="none" cap="none" strike="noStrike">
              <a:solidFill>
                <a:srgbClr val="000000"/>
              </a:solidFill>
              <a:latin typeface="Calibri"/>
              <a:ea typeface="Calibri"/>
              <a:cs typeface="Calibri"/>
              <a:sym typeface="Calibri"/>
            </a:endParaRPr>
          </a:p>
          <a:p>
            <a:pPr indent="0" lvl="0" marL="0" marR="0" rtl="0" algn="l">
              <a:lnSpc>
                <a:spcPct val="100000"/>
              </a:lnSpc>
              <a:spcBef>
                <a:spcPts val="641"/>
              </a:spcBef>
              <a:spcAft>
                <a:spcPts val="0"/>
              </a:spcAft>
              <a:buClr>
                <a:srgbClr val="000000"/>
              </a:buClr>
              <a:buSzPct val="100000"/>
              <a:buFont typeface="Arial"/>
              <a:buNone/>
            </a:pPr>
            <a:r>
              <a:rPr b="0" i="0" lang="en-US" sz="2100" u="none" cap="none" strike="noStrike">
                <a:solidFill>
                  <a:srgbClr val="000000"/>
                </a:solidFill>
                <a:latin typeface="Calibri"/>
                <a:ea typeface="Calibri"/>
                <a:cs typeface="Calibri"/>
                <a:sym typeface="Calibri"/>
              </a:rPr>
              <a:t>How many strings are getting created in the below statement;</a:t>
            </a:r>
            <a:endParaRPr b="0" i="0" sz="1400" u="none" cap="none" strike="noStrike">
              <a:solidFill>
                <a:srgbClr val="000000"/>
              </a:solidFill>
              <a:latin typeface="Arial"/>
              <a:ea typeface="Arial"/>
              <a:cs typeface="Arial"/>
              <a:sym typeface="Arial"/>
            </a:endParaRPr>
          </a:p>
          <a:p>
            <a:pPr indent="-342931" lvl="0" marL="342900" marR="0" rtl="0" algn="l">
              <a:lnSpc>
                <a:spcPct val="100000"/>
              </a:lnSpc>
              <a:spcBef>
                <a:spcPts val="641"/>
              </a:spcBef>
              <a:spcAft>
                <a:spcPts val="0"/>
              </a:spcAft>
              <a:buClr>
                <a:srgbClr val="000000"/>
              </a:buClr>
              <a:buSzPct val="100000"/>
              <a:buFont typeface="Arial"/>
              <a:buChar char="•"/>
            </a:pPr>
            <a:r>
              <a:rPr b="0" i="0" lang="en-US" sz="2100" u="none" cap="none" strike="noStrike">
                <a:solidFill>
                  <a:srgbClr val="000000"/>
                </a:solidFill>
                <a:latin typeface="Calibri"/>
                <a:ea typeface="Calibri"/>
                <a:cs typeface="Calibri"/>
                <a:sym typeface="Calibri"/>
              </a:rPr>
              <a:t>String str = new String("Cat");</a:t>
            </a:r>
            <a:endParaRPr b="0" i="0" sz="1400" u="none" cap="none" strike="noStrike">
              <a:solidFill>
                <a:srgbClr val="000000"/>
              </a:solidFill>
              <a:latin typeface="Arial"/>
              <a:ea typeface="Arial"/>
              <a:cs typeface="Arial"/>
              <a:sym typeface="Arial"/>
            </a:endParaRPr>
          </a:p>
          <a:p>
            <a:pPr indent="-342931" lvl="0" marL="342900" marR="0" rtl="0" algn="l">
              <a:lnSpc>
                <a:spcPct val="100000"/>
              </a:lnSpc>
              <a:spcBef>
                <a:spcPts val="641"/>
              </a:spcBef>
              <a:spcAft>
                <a:spcPts val="0"/>
              </a:spcAft>
              <a:buClr>
                <a:srgbClr val="000000"/>
              </a:buClr>
              <a:buSzPct val="100000"/>
              <a:buFont typeface="Arial"/>
              <a:buChar char="•"/>
            </a:pPr>
            <a:r>
              <a:rPr b="0" i="0" lang="en-US" sz="2100" u="none" cap="none" strike="noStrike">
                <a:solidFill>
                  <a:srgbClr val="000000"/>
                </a:solidFill>
                <a:latin typeface="Calibri"/>
                <a:ea typeface="Calibri"/>
                <a:cs typeface="Calibri"/>
                <a:sym typeface="Calibri"/>
              </a:rPr>
              <a:t>In the above statement, either 1 or 2 string will be created. If there is already a string literal “Cat” in the pool, then only one string “str” will be created in the heap. If there is no string literal “Cat” in the pool, then it will be first created in the pool and then in the heap space, so a total of 2 string objects will be created.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41"/>
              </a:spcBef>
              <a:spcAft>
                <a:spcPts val="0"/>
              </a:spcAft>
              <a:buClr>
                <a:srgbClr val="000000"/>
              </a:buClr>
              <a:buSzPct val="100000"/>
              <a:buFont typeface="Arial"/>
              <a:buNone/>
            </a:pPr>
            <a:r>
              <a:t/>
            </a:r>
            <a:endParaRPr b="0" i="0" sz="2100" u="none" cap="none" strike="noStrike">
              <a:solidFill>
                <a:srgbClr val="000000"/>
              </a:solidFill>
              <a:latin typeface="Calibri"/>
              <a:ea typeface="Calibri"/>
              <a:cs typeface="Calibri"/>
              <a:sym typeface="Calibri"/>
            </a:endParaRPr>
          </a:p>
        </p:txBody>
      </p:sp>
      <p:sp>
        <p:nvSpPr>
          <p:cNvPr id="136" name="Google Shape;136;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Sindhu K, Dept. of ISE</a:t>
            </a:r>
            <a:endParaRPr/>
          </a:p>
        </p:txBody>
      </p:sp>
      <p:sp>
        <p:nvSpPr>
          <p:cNvPr id="137" name="Google Shape;137;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6"/>
          <p:cNvSpPr txBox="1"/>
          <p:nvPr/>
        </p:nvSpPr>
        <p:spPr>
          <a:xfrm>
            <a:off x="634481" y="274680"/>
            <a:ext cx="10655559" cy="518422"/>
          </a:xfrm>
          <a:prstGeom prst="rect">
            <a:avLst/>
          </a:prstGeom>
          <a:noFill/>
          <a:ln>
            <a:noFill/>
          </a:ln>
        </p:spPr>
        <p:txBody>
          <a:bodyPr anchorCtr="0" anchor="ctr" bIns="45700" lIns="91425" spcFirstLastPara="1" rIns="91425" wrap="square" tIns="45700">
            <a:normAutofit fontScale="75000" lnSpcReduction="20000"/>
          </a:bodyPr>
          <a:lstStyle/>
          <a:p>
            <a:pPr indent="0" lvl="0" marL="0" marR="0" rtl="0" algn="ctr">
              <a:lnSpc>
                <a:spcPct val="100000"/>
              </a:lnSpc>
              <a:spcBef>
                <a:spcPts val="0"/>
              </a:spcBef>
              <a:spcAft>
                <a:spcPts val="0"/>
              </a:spcAft>
              <a:buClr>
                <a:srgbClr val="000000"/>
              </a:buClr>
              <a:buSzPct val="100000"/>
              <a:buFont typeface="Arial"/>
              <a:buNone/>
            </a:pPr>
            <a:r>
              <a:rPr b="1" i="0" lang="en-US" sz="4400" u="none" cap="none" strike="noStrike">
                <a:solidFill>
                  <a:srgbClr val="000000"/>
                </a:solidFill>
                <a:latin typeface="Calibri"/>
                <a:ea typeface="Calibri"/>
                <a:cs typeface="Calibri"/>
                <a:sym typeface="Calibri"/>
              </a:rPr>
              <a:t>String Handling</a:t>
            </a:r>
            <a:endParaRPr b="0" i="0" sz="4400" u="none" cap="none" strike="noStrike">
              <a:solidFill>
                <a:srgbClr val="000000"/>
              </a:solidFill>
              <a:latin typeface="Calibri"/>
              <a:ea typeface="Calibri"/>
              <a:cs typeface="Calibri"/>
              <a:sym typeface="Calibri"/>
            </a:endParaRPr>
          </a:p>
        </p:txBody>
      </p:sp>
      <p:sp>
        <p:nvSpPr>
          <p:cNvPr id="143" name="Google Shape;143;p6"/>
          <p:cNvSpPr txBox="1"/>
          <p:nvPr/>
        </p:nvSpPr>
        <p:spPr>
          <a:xfrm>
            <a:off x="308490" y="877077"/>
            <a:ext cx="11445549" cy="5835938"/>
          </a:xfrm>
          <a:prstGeom prst="rect">
            <a:avLst/>
          </a:prstGeom>
          <a:noFill/>
          <a:ln>
            <a:noFill/>
          </a:ln>
        </p:spPr>
        <p:txBody>
          <a:bodyPr anchorCtr="0" anchor="t" bIns="45700" lIns="91425" spcFirstLastPara="1" rIns="91425" wrap="square" tIns="45700">
            <a:normAutofit fontScale="94500"/>
          </a:bodyPr>
          <a:lstStyle/>
          <a:p>
            <a:pPr indent="0" lvl="0" marL="0" marR="0" rtl="0" algn="l">
              <a:lnSpc>
                <a:spcPct val="100000"/>
              </a:lnSpc>
              <a:spcBef>
                <a:spcPts val="0"/>
              </a:spcBef>
              <a:spcAft>
                <a:spcPts val="0"/>
              </a:spcAft>
              <a:buClr>
                <a:srgbClr val="000000"/>
              </a:buClr>
              <a:buSzPct val="100000"/>
              <a:buFont typeface="Arial"/>
              <a:buNone/>
            </a:pPr>
            <a:r>
              <a:t/>
            </a:r>
            <a:endParaRPr b="0" i="0" sz="2100" u="none" cap="none" strike="noStrike">
              <a:solidFill>
                <a:srgbClr val="000000"/>
              </a:solidFill>
              <a:latin typeface="Calibri"/>
              <a:ea typeface="Calibri"/>
              <a:cs typeface="Calibri"/>
              <a:sym typeface="Calibri"/>
            </a:endParaRPr>
          </a:p>
          <a:p>
            <a:pPr indent="0" lvl="0" marL="0" marR="0" rtl="0" algn="l">
              <a:lnSpc>
                <a:spcPct val="100000"/>
              </a:lnSpc>
              <a:spcBef>
                <a:spcPts val="641"/>
              </a:spcBef>
              <a:spcAft>
                <a:spcPts val="0"/>
              </a:spcAft>
              <a:buClr>
                <a:srgbClr val="000000"/>
              </a:buClr>
              <a:buSzPct val="100000"/>
              <a:buFont typeface="Arial"/>
              <a:buNone/>
            </a:pPr>
            <a:r>
              <a:t/>
            </a:r>
            <a:endParaRPr b="0" i="0" sz="2100" u="none" cap="none" strike="noStrike">
              <a:solidFill>
                <a:srgbClr val="000000"/>
              </a:solidFill>
              <a:latin typeface="Calibri"/>
              <a:ea typeface="Calibri"/>
              <a:cs typeface="Calibri"/>
              <a:sym typeface="Calibri"/>
            </a:endParaRPr>
          </a:p>
        </p:txBody>
      </p:sp>
      <p:pic>
        <p:nvPicPr>
          <p:cNvPr id="144" name="Google Shape;144;p6"/>
          <p:cNvPicPr preferRelativeResize="0"/>
          <p:nvPr/>
        </p:nvPicPr>
        <p:blipFill rotWithShape="1">
          <a:blip r:embed="rId3">
            <a:alphaModFix/>
          </a:blip>
          <a:srcRect b="0" l="0" r="0" t="0"/>
          <a:stretch/>
        </p:blipFill>
        <p:spPr>
          <a:xfrm>
            <a:off x="192525" y="877077"/>
            <a:ext cx="5769735" cy="3035030"/>
          </a:xfrm>
          <a:prstGeom prst="rect">
            <a:avLst/>
          </a:prstGeom>
          <a:noFill/>
          <a:ln>
            <a:noFill/>
          </a:ln>
        </p:spPr>
      </p:pic>
      <p:sp>
        <p:nvSpPr>
          <p:cNvPr id="145" name="Google Shape;145;p6"/>
          <p:cNvSpPr txBox="1"/>
          <p:nvPr/>
        </p:nvSpPr>
        <p:spPr>
          <a:xfrm>
            <a:off x="6229742" y="1131534"/>
            <a:ext cx="5312225" cy="4849389"/>
          </a:xfrm>
          <a:prstGeom prst="rect">
            <a:avLst/>
          </a:prstGeom>
          <a:noFill/>
          <a:ln>
            <a:noFill/>
          </a:ln>
        </p:spPr>
        <p:txBody>
          <a:bodyPr anchorCtr="0" anchor="t" bIns="91425" lIns="91425" spcFirstLastPara="1" rIns="91425" wrap="square" tIns="91425">
            <a:noAutofit/>
          </a:bodyPr>
          <a:lstStyle/>
          <a:p>
            <a:pPr indent="-342900" lvl="0" marL="457200" marR="0" rtl="0" algn="just">
              <a:lnSpc>
                <a:spcPct val="90000"/>
              </a:lnSpc>
              <a:spcBef>
                <a:spcPts val="0"/>
              </a:spcBef>
              <a:spcAft>
                <a:spcPts val="0"/>
              </a:spcAft>
              <a:buClr>
                <a:srgbClr val="4A4A4A"/>
              </a:buClr>
              <a:buSzPts val="1800"/>
              <a:buFont typeface="Times New Roman"/>
              <a:buChar char="●"/>
            </a:pPr>
            <a:r>
              <a:rPr b="0" i="0" lang="en-US" sz="2000" u="none" cap="none" strike="noStrike">
                <a:solidFill>
                  <a:srgbClr val="4A4A4A"/>
                </a:solidFill>
                <a:latin typeface="Times New Roman"/>
                <a:ea typeface="Times New Roman"/>
                <a:cs typeface="Times New Roman"/>
                <a:sym typeface="Times New Roman"/>
              </a:rPr>
              <a:t>JVM looks for all the string literals in the program</a:t>
            </a:r>
            <a:endParaRPr b="0" i="0" sz="1400" u="none" cap="none" strike="noStrike">
              <a:solidFill>
                <a:srgbClr val="000000"/>
              </a:solidFill>
              <a:latin typeface="Arial"/>
              <a:ea typeface="Arial"/>
              <a:cs typeface="Arial"/>
              <a:sym typeface="Arial"/>
            </a:endParaRPr>
          </a:p>
          <a:p>
            <a:pPr indent="-342900" lvl="0" marL="457200" marR="0" rtl="0" algn="just">
              <a:lnSpc>
                <a:spcPct val="90000"/>
              </a:lnSpc>
              <a:spcBef>
                <a:spcPts val="0"/>
              </a:spcBef>
              <a:spcAft>
                <a:spcPts val="0"/>
              </a:spcAft>
              <a:buClr>
                <a:srgbClr val="4A4A4A"/>
              </a:buClr>
              <a:buSzPts val="1800"/>
              <a:buFont typeface="Times New Roman"/>
              <a:buChar char="●"/>
            </a:pPr>
            <a:r>
              <a:rPr b="0" i="0" lang="en-US" sz="2000" u="none" cap="none" strike="noStrike">
                <a:solidFill>
                  <a:srgbClr val="4A4A4A"/>
                </a:solidFill>
                <a:latin typeface="Times New Roman"/>
                <a:ea typeface="Times New Roman"/>
                <a:cs typeface="Times New Roman"/>
                <a:sym typeface="Times New Roman"/>
              </a:rPr>
              <a:t>First, it finds the variable s1 which refers to the literal “Apple” and it gets created in the memory</a:t>
            </a:r>
            <a:endParaRPr b="0" i="0" sz="1400" u="none" cap="none" strike="noStrike">
              <a:solidFill>
                <a:srgbClr val="000000"/>
              </a:solidFill>
              <a:latin typeface="Arial"/>
              <a:ea typeface="Arial"/>
              <a:cs typeface="Arial"/>
              <a:sym typeface="Arial"/>
            </a:endParaRPr>
          </a:p>
          <a:p>
            <a:pPr indent="-342900" lvl="0" marL="457200" marR="0" rtl="0" algn="just">
              <a:lnSpc>
                <a:spcPct val="90000"/>
              </a:lnSpc>
              <a:spcBef>
                <a:spcPts val="0"/>
              </a:spcBef>
              <a:spcAft>
                <a:spcPts val="0"/>
              </a:spcAft>
              <a:buClr>
                <a:srgbClr val="4A4A4A"/>
              </a:buClr>
              <a:buSzPts val="1800"/>
              <a:buFont typeface="Times New Roman"/>
              <a:buChar char="●"/>
            </a:pPr>
            <a:r>
              <a:rPr b="0" i="0" lang="en-US" sz="2000" u="none" cap="none" strike="noStrike">
                <a:solidFill>
                  <a:srgbClr val="4A4A4A"/>
                </a:solidFill>
                <a:latin typeface="Times New Roman"/>
                <a:ea typeface="Times New Roman"/>
                <a:cs typeface="Times New Roman"/>
                <a:sym typeface="Times New Roman"/>
              </a:rPr>
              <a:t>A reference for the literal “Apple” is then placed in the string constant pool memory.</a:t>
            </a:r>
            <a:endParaRPr b="0" i="0" sz="1400" u="none" cap="none" strike="noStrike">
              <a:solidFill>
                <a:srgbClr val="000000"/>
              </a:solidFill>
              <a:latin typeface="Arial"/>
              <a:ea typeface="Arial"/>
              <a:cs typeface="Arial"/>
              <a:sym typeface="Arial"/>
            </a:endParaRPr>
          </a:p>
          <a:p>
            <a:pPr indent="-342900" lvl="0" marL="457200" marR="0" rtl="0" algn="just">
              <a:lnSpc>
                <a:spcPct val="90000"/>
              </a:lnSpc>
              <a:spcBef>
                <a:spcPts val="0"/>
              </a:spcBef>
              <a:spcAft>
                <a:spcPts val="0"/>
              </a:spcAft>
              <a:buClr>
                <a:srgbClr val="4A4A4A"/>
              </a:buClr>
              <a:buSzPts val="1800"/>
              <a:buFont typeface="Times New Roman"/>
              <a:buChar char="●"/>
            </a:pPr>
            <a:r>
              <a:rPr b="0" i="0" lang="en-US" sz="2000" u="none" cap="none" strike="noStrike">
                <a:solidFill>
                  <a:srgbClr val="4A4A4A"/>
                </a:solidFill>
                <a:latin typeface="Times New Roman"/>
                <a:ea typeface="Times New Roman"/>
                <a:cs typeface="Times New Roman"/>
                <a:sym typeface="Times New Roman"/>
              </a:rPr>
              <a:t>Then it finds another variable s2 which refers to the same string literal “Mango”.</a:t>
            </a:r>
            <a:endParaRPr b="0" i="0" sz="1400" u="none" cap="none" strike="noStrike">
              <a:solidFill>
                <a:srgbClr val="000000"/>
              </a:solidFill>
              <a:latin typeface="Arial"/>
              <a:ea typeface="Arial"/>
              <a:cs typeface="Arial"/>
              <a:sym typeface="Arial"/>
            </a:endParaRPr>
          </a:p>
          <a:p>
            <a:pPr indent="-342900" lvl="0" marL="457200" marR="0" rtl="0" algn="just">
              <a:lnSpc>
                <a:spcPct val="90000"/>
              </a:lnSpc>
              <a:spcBef>
                <a:spcPts val="0"/>
              </a:spcBef>
              <a:spcAft>
                <a:spcPts val="0"/>
              </a:spcAft>
              <a:buClr>
                <a:srgbClr val="4A4A4A"/>
              </a:buClr>
              <a:buSzPts val="1800"/>
              <a:buFont typeface="Times New Roman"/>
              <a:buChar char="●"/>
            </a:pPr>
            <a:r>
              <a:rPr b="0" i="0" lang="en-US" sz="2000" u="none" cap="none" strike="noStrike">
                <a:solidFill>
                  <a:srgbClr val="4A4A4A"/>
                </a:solidFill>
                <a:latin typeface="Times New Roman"/>
                <a:ea typeface="Times New Roman"/>
                <a:cs typeface="Times New Roman"/>
                <a:sym typeface="Times New Roman"/>
              </a:rPr>
              <a:t>Then it finds another variable s3 which refers to the literal “Apple”</a:t>
            </a:r>
            <a:endParaRPr b="0" i="0" sz="1400" u="none" cap="none" strike="noStrike">
              <a:solidFill>
                <a:srgbClr val="000000"/>
              </a:solidFill>
              <a:latin typeface="Arial"/>
              <a:ea typeface="Arial"/>
              <a:cs typeface="Arial"/>
              <a:sym typeface="Arial"/>
            </a:endParaRPr>
          </a:p>
          <a:p>
            <a:pPr indent="-342900" lvl="0" marL="457200" marR="0" rtl="0" algn="just">
              <a:lnSpc>
                <a:spcPct val="90000"/>
              </a:lnSpc>
              <a:spcBef>
                <a:spcPts val="0"/>
              </a:spcBef>
              <a:spcAft>
                <a:spcPts val="0"/>
              </a:spcAft>
              <a:buClr>
                <a:srgbClr val="4A4A4A"/>
              </a:buClr>
              <a:buSzPts val="1800"/>
              <a:buFont typeface="Times New Roman"/>
              <a:buChar char="●"/>
            </a:pPr>
            <a:r>
              <a:rPr b="0" i="0" lang="en-US" sz="2000" u="none" cap="none" strike="noStrike">
                <a:solidFill>
                  <a:srgbClr val="4A4A4A"/>
                </a:solidFill>
                <a:latin typeface="Times New Roman"/>
                <a:ea typeface="Times New Roman"/>
                <a:cs typeface="Times New Roman"/>
                <a:sym typeface="Times New Roman"/>
              </a:rPr>
              <a:t>Now that JVM has already found a string literal “Apple”, both the variables s1 and s3 will refer to the same object i.e. “Apple”.</a:t>
            </a:r>
            <a:endParaRPr b="0" i="0" sz="1400" u="none" cap="none" strike="noStrike">
              <a:solidFill>
                <a:srgbClr val="000000"/>
              </a:solidFill>
              <a:latin typeface="Arial"/>
              <a:ea typeface="Arial"/>
              <a:cs typeface="Arial"/>
              <a:sym typeface="Arial"/>
            </a:endParaRPr>
          </a:p>
          <a:p>
            <a:pPr indent="0" lvl="0" marL="0" marR="0" rtl="0" algn="l">
              <a:lnSpc>
                <a:spcPct val="90000"/>
              </a:lnSpc>
              <a:spcBef>
                <a:spcPts val="1200"/>
              </a:spcBef>
              <a:spcAft>
                <a:spcPts val="1600"/>
              </a:spcAft>
              <a:buClr>
                <a:schemeClr val="dk1"/>
              </a:buClr>
              <a:buSzPts val="2800"/>
              <a:buFont typeface="Arial"/>
              <a:buNone/>
            </a:pPr>
            <a:r>
              <a:t/>
            </a:r>
            <a:endParaRPr b="0" i="0" sz="2800" u="none" cap="none" strike="noStrike">
              <a:solidFill>
                <a:schemeClr val="dk1"/>
              </a:solidFill>
              <a:latin typeface="Times New Roman"/>
              <a:ea typeface="Times New Roman"/>
              <a:cs typeface="Times New Roman"/>
              <a:sym typeface="Times New Roman"/>
            </a:endParaRPr>
          </a:p>
        </p:txBody>
      </p:sp>
      <p:sp>
        <p:nvSpPr>
          <p:cNvPr id="146" name="Google Shape;146;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Sindhu K, Dept. of ISE</a:t>
            </a:r>
            <a:endParaRPr/>
          </a:p>
        </p:txBody>
      </p:sp>
      <p:sp>
        <p:nvSpPr>
          <p:cNvPr id="147" name="Google Shape;147;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7"/>
          <p:cNvSpPr txBox="1"/>
          <p:nvPr/>
        </p:nvSpPr>
        <p:spPr>
          <a:xfrm>
            <a:off x="634481" y="274680"/>
            <a:ext cx="10655559" cy="518422"/>
          </a:xfrm>
          <a:prstGeom prst="rect">
            <a:avLst/>
          </a:prstGeom>
          <a:noFill/>
          <a:ln>
            <a:noFill/>
          </a:ln>
        </p:spPr>
        <p:txBody>
          <a:bodyPr anchorCtr="0" anchor="ctr" bIns="45700" lIns="91425" spcFirstLastPara="1" rIns="91425" wrap="square" tIns="45700">
            <a:normAutofit fontScale="75000" lnSpcReduction="20000"/>
          </a:bodyPr>
          <a:lstStyle/>
          <a:p>
            <a:pPr indent="0" lvl="0" marL="0" marR="0" rtl="0" algn="ctr">
              <a:lnSpc>
                <a:spcPct val="100000"/>
              </a:lnSpc>
              <a:spcBef>
                <a:spcPts val="0"/>
              </a:spcBef>
              <a:spcAft>
                <a:spcPts val="0"/>
              </a:spcAft>
              <a:buClr>
                <a:srgbClr val="000000"/>
              </a:buClr>
              <a:buSzPct val="100000"/>
              <a:buFont typeface="Arial"/>
              <a:buNone/>
            </a:pPr>
            <a:r>
              <a:rPr b="1" i="0" lang="en-US" sz="4400" u="none" cap="none" strike="noStrike">
                <a:solidFill>
                  <a:srgbClr val="000000"/>
                </a:solidFill>
                <a:latin typeface="Calibri"/>
                <a:ea typeface="Calibri"/>
                <a:cs typeface="Calibri"/>
                <a:sym typeface="Calibri"/>
              </a:rPr>
              <a:t>String Handling</a:t>
            </a:r>
            <a:endParaRPr b="0" i="0" sz="4400" u="none" cap="none" strike="noStrike">
              <a:solidFill>
                <a:srgbClr val="000000"/>
              </a:solidFill>
              <a:latin typeface="Calibri"/>
              <a:ea typeface="Calibri"/>
              <a:cs typeface="Calibri"/>
              <a:sym typeface="Calibri"/>
            </a:endParaRPr>
          </a:p>
        </p:txBody>
      </p:sp>
      <p:sp>
        <p:nvSpPr>
          <p:cNvPr id="153" name="Google Shape;153;p7"/>
          <p:cNvSpPr txBox="1"/>
          <p:nvPr/>
        </p:nvSpPr>
        <p:spPr>
          <a:xfrm>
            <a:off x="783771" y="793102"/>
            <a:ext cx="10506269" cy="5835938"/>
          </a:xfrm>
          <a:prstGeom prst="rect">
            <a:avLst/>
          </a:prstGeom>
          <a:noFill/>
          <a:ln>
            <a:noFill/>
          </a:ln>
        </p:spPr>
        <p:txBody>
          <a:bodyPr anchorCtr="0" anchor="t" bIns="45700" lIns="91425" spcFirstLastPara="1" rIns="91425" wrap="square" tIns="45700">
            <a:normAutofit fontScale="94500" lnSpcReduction="10000"/>
          </a:bodyPr>
          <a:lstStyle/>
          <a:p>
            <a:pPr indent="0" lvl="0" marL="0" marR="0" rtl="0" algn="l">
              <a:lnSpc>
                <a:spcPct val="100000"/>
              </a:lnSpc>
              <a:spcBef>
                <a:spcPts val="0"/>
              </a:spcBef>
              <a:spcAft>
                <a:spcPts val="0"/>
              </a:spcAft>
              <a:buClr>
                <a:srgbClr val="000000"/>
              </a:buClr>
              <a:buSzPct val="100000"/>
              <a:buFont typeface="Arial"/>
              <a:buNone/>
            </a:pPr>
            <a:r>
              <a:rPr b="1" i="0" lang="en-US" sz="3200" u="none" cap="none" strike="noStrike">
                <a:solidFill>
                  <a:srgbClr val="000000"/>
                </a:solidFill>
                <a:latin typeface="Calibri"/>
                <a:ea typeface="Calibri"/>
                <a:cs typeface="Calibri"/>
                <a:sym typeface="Calibri"/>
              </a:rPr>
              <a:t>Immutable String in Java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41"/>
              </a:spcBef>
              <a:spcAft>
                <a:spcPts val="0"/>
              </a:spcAft>
              <a:buClr>
                <a:srgbClr val="000000"/>
              </a:buClr>
              <a:buSzPct val="100000"/>
              <a:buFont typeface="Arial"/>
              <a:buNone/>
            </a:pPr>
            <a:r>
              <a:rPr b="0" i="0" lang="en-US" sz="3200" u="none" cap="none" strike="noStrike">
                <a:solidFill>
                  <a:srgbClr val="000000"/>
                </a:solidFill>
                <a:latin typeface="Calibri"/>
                <a:ea typeface="Calibri"/>
                <a:cs typeface="Calibri"/>
                <a:sym typeface="Calibri"/>
              </a:rPr>
              <a:t>In java, string objects are immutable. Immutable simply means unmodifiable or unchangeable.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41"/>
              </a:spcBef>
              <a:spcAft>
                <a:spcPts val="0"/>
              </a:spcAft>
              <a:buClr>
                <a:srgbClr val="000000"/>
              </a:buClr>
              <a:buSzPct val="100000"/>
              <a:buFont typeface="Arial"/>
              <a:buNone/>
            </a:pPr>
            <a:r>
              <a:rPr b="0" i="0" lang="en-US" sz="3200" u="none" cap="none" strike="noStrike">
                <a:solidFill>
                  <a:srgbClr val="000000"/>
                </a:solidFill>
                <a:latin typeface="Calibri"/>
                <a:ea typeface="Calibri"/>
                <a:cs typeface="Calibri"/>
                <a:sym typeface="Calibri"/>
              </a:rPr>
              <a:t>Once string object is created its data or state can't be changed but a new string object is created.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41"/>
              </a:spcBef>
              <a:spcAft>
                <a:spcPts val="0"/>
              </a:spcAft>
              <a:buClr>
                <a:srgbClr val="000000"/>
              </a:buClr>
              <a:buSzPct val="100000"/>
              <a:buFont typeface="Arial"/>
              <a:buNone/>
            </a:pPr>
            <a:r>
              <a:rPr b="1" i="0" lang="en-US" sz="3200" u="none" cap="none" strike="noStrike">
                <a:solidFill>
                  <a:srgbClr val="000000"/>
                </a:solidFill>
                <a:latin typeface="Calibri"/>
                <a:ea typeface="Calibri"/>
                <a:cs typeface="Calibri"/>
                <a:sym typeface="Calibri"/>
              </a:rPr>
              <a:t>Why string objects are immutable in java?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41"/>
              </a:spcBef>
              <a:spcAft>
                <a:spcPts val="0"/>
              </a:spcAft>
              <a:buClr>
                <a:srgbClr val="000000"/>
              </a:buClr>
              <a:buSzPct val="100000"/>
              <a:buFont typeface="Arial"/>
              <a:buNone/>
            </a:pPr>
            <a:r>
              <a:rPr b="0" i="0" lang="en-US" sz="3200" u="none" cap="none" strike="noStrike">
                <a:solidFill>
                  <a:srgbClr val="000000"/>
                </a:solidFill>
                <a:latin typeface="Calibri"/>
                <a:ea typeface="Calibri"/>
                <a:cs typeface="Calibri"/>
                <a:sym typeface="Calibri"/>
              </a:rPr>
              <a:t>Because java uses the concept of string literal.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41"/>
              </a:spcBef>
              <a:spcAft>
                <a:spcPts val="0"/>
              </a:spcAft>
              <a:buClr>
                <a:srgbClr val="000000"/>
              </a:buClr>
              <a:buSzPct val="100000"/>
              <a:buFont typeface="Arial"/>
              <a:buNone/>
            </a:pPr>
            <a:r>
              <a:rPr b="0" i="0" lang="en-US" sz="3200" u="none" cap="none" strike="noStrike">
                <a:solidFill>
                  <a:srgbClr val="000000"/>
                </a:solidFill>
                <a:latin typeface="Calibri"/>
                <a:ea typeface="Calibri"/>
                <a:cs typeface="Calibri"/>
                <a:sym typeface="Calibri"/>
              </a:rPr>
              <a:t>Suppose there are 5 reference variables, all refers to one object "sachin".If one reference variable changes the value of the object, it will be affected to all the reference variables. That is why string objects are immutable in java.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41"/>
              </a:spcBef>
              <a:spcAft>
                <a:spcPts val="0"/>
              </a:spcAft>
              <a:buClr>
                <a:srgbClr val="000000"/>
              </a:buClr>
              <a:buSzPct val="100000"/>
              <a:buFont typeface="Arial"/>
              <a:buNone/>
            </a:pPr>
            <a:r>
              <a:t/>
            </a:r>
            <a:endParaRPr b="0" i="0" sz="3200" u="none" cap="none" strike="noStrike">
              <a:solidFill>
                <a:srgbClr val="000000"/>
              </a:solidFill>
              <a:latin typeface="Calibri"/>
              <a:ea typeface="Calibri"/>
              <a:cs typeface="Calibri"/>
              <a:sym typeface="Calibri"/>
            </a:endParaRPr>
          </a:p>
        </p:txBody>
      </p:sp>
      <p:sp>
        <p:nvSpPr>
          <p:cNvPr id="154" name="Google Shape;154;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Sindhu K, Dept. of ISE</a:t>
            </a:r>
            <a:endParaRPr/>
          </a:p>
        </p:txBody>
      </p:sp>
      <p:sp>
        <p:nvSpPr>
          <p:cNvPr id="155" name="Google Shape;155;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g39e1ead23f4_0_34"/>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
        <p:nvSpPr>
          <p:cNvPr id="162" name="Google Shape;162;g39e1ead23f4_0_34"/>
          <p:cNvSpPr txBox="1"/>
          <p:nvPr/>
        </p:nvSpPr>
        <p:spPr>
          <a:xfrm>
            <a:off x="0" y="0"/>
            <a:ext cx="4280700" cy="2756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500">
                <a:solidFill>
                  <a:schemeClr val="dk1"/>
                </a:solidFill>
                <a:latin typeface="Calibri"/>
                <a:ea typeface="Calibri"/>
                <a:cs typeface="Calibri"/>
                <a:sym typeface="Calibri"/>
              </a:rPr>
              <a:t>class Testimmutablestring{  </a:t>
            </a:r>
            <a:endParaRPr>
              <a:solidFill>
                <a:schemeClr val="dk1"/>
              </a:solidFill>
            </a:endParaRPr>
          </a:p>
          <a:p>
            <a:pPr indent="0" lvl="0" marL="0" rtl="0" algn="l">
              <a:spcBef>
                <a:spcPts val="641"/>
              </a:spcBef>
              <a:spcAft>
                <a:spcPts val="0"/>
              </a:spcAft>
              <a:buNone/>
            </a:pPr>
            <a:r>
              <a:rPr lang="en-US" sz="1500">
                <a:solidFill>
                  <a:schemeClr val="dk1"/>
                </a:solidFill>
                <a:latin typeface="Calibri"/>
                <a:ea typeface="Calibri"/>
                <a:cs typeface="Calibri"/>
                <a:sym typeface="Calibri"/>
              </a:rPr>
              <a:t> public static void main(String args[]){  </a:t>
            </a:r>
            <a:endParaRPr>
              <a:solidFill>
                <a:schemeClr val="dk1"/>
              </a:solidFill>
            </a:endParaRPr>
          </a:p>
          <a:p>
            <a:pPr indent="0" lvl="0" marL="0" rtl="0" algn="l">
              <a:spcBef>
                <a:spcPts val="641"/>
              </a:spcBef>
              <a:spcAft>
                <a:spcPts val="0"/>
              </a:spcAft>
              <a:buNone/>
            </a:pPr>
            <a:r>
              <a:rPr lang="en-US" sz="1500">
                <a:solidFill>
                  <a:schemeClr val="dk1"/>
                </a:solidFill>
                <a:latin typeface="Calibri"/>
                <a:ea typeface="Calibri"/>
                <a:cs typeface="Calibri"/>
                <a:sym typeface="Calibri"/>
              </a:rPr>
              <a:t>   </a:t>
            </a:r>
            <a:r>
              <a:rPr b="1" lang="en-US" sz="1500">
                <a:solidFill>
                  <a:schemeClr val="dk1"/>
                </a:solidFill>
                <a:latin typeface="Calibri"/>
                <a:ea typeface="Calibri"/>
                <a:cs typeface="Calibri"/>
                <a:sym typeface="Calibri"/>
              </a:rPr>
              <a:t>String s="Sachin";  </a:t>
            </a:r>
            <a:endParaRPr b="1">
              <a:solidFill>
                <a:schemeClr val="dk1"/>
              </a:solidFill>
            </a:endParaRPr>
          </a:p>
          <a:p>
            <a:pPr indent="0" lvl="0" marL="0" rtl="0" algn="l">
              <a:spcBef>
                <a:spcPts val="641"/>
              </a:spcBef>
              <a:spcAft>
                <a:spcPts val="0"/>
              </a:spcAft>
              <a:buNone/>
            </a:pPr>
            <a:r>
              <a:rPr b="1" lang="en-US" sz="1500">
                <a:solidFill>
                  <a:schemeClr val="dk1"/>
                </a:solidFill>
                <a:latin typeface="Calibri"/>
                <a:ea typeface="Calibri"/>
                <a:cs typeface="Calibri"/>
                <a:sym typeface="Calibri"/>
              </a:rPr>
              <a:t>   s.concat(" Tendulkar");</a:t>
            </a:r>
            <a:r>
              <a:rPr lang="en-US" sz="1500">
                <a:solidFill>
                  <a:schemeClr val="dk1"/>
                </a:solidFill>
                <a:latin typeface="Calibri"/>
                <a:ea typeface="Calibri"/>
                <a:cs typeface="Calibri"/>
                <a:sym typeface="Calibri"/>
              </a:rPr>
              <a:t>//concat() method appends the string at the end  </a:t>
            </a:r>
            <a:endParaRPr>
              <a:solidFill>
                <a:schemeClr val="dk1"/>
              </a:solidFill>
            </a:endParaRPr>
          </a:p>
          <a:p>
            <a:pPr indent="0" lvl="0" marL="0" rtl="0" algn="l">
              <a:spcBef>
                <a:spcPts val="641"/>
              </a:spcBef>
              <a:spcAft>
                <a:spcPts val="0"/>
              </a:spcAft>
              <a:buNone/>
            </a:pPr>
            <a:r>
              <a:rPr lang="en-US" sz="1500">
                <a:solidFill>
                  <a:schemeClr val="dk1"/>
                </a:solidFill>
                <a:latin typeface="Calibri"/>
                <a:ea typeface="Calibri"/>
                <a:cs typeface="Calibri"/>
                <a:sym typeface="Calibri"/>
              </a:rPr>
              <a:t>   System.out.println(s);//will print Sachin because strings are immutable objects  </a:t>
            </a:r>
            <a:endParaRPr>
              <a:solidFill>
                <a:schemeClr val="dk1"/>
              </a:solidFill>
            </a:endParaRPr>
          </a:p>
          <a:p>
            <a:pPr indent="0" lvl="0" marL="0" rtl="0" algn="l">
              <a:spcBef>
                <a:spcPts val="641"/>
              </a:spcBef>
              <a:spcAft>
                <a:spcPts val="0"/>
              </a:spcAft>
              <a:buNone/>
            </a:pPr>
            <a:r>
              <a:rPr lang="en-US" sz="1500">
                <a:solidFill>
                  <a:schemeClr val="dk1"/>
                </a:solidFill>
                <a:latin typeface="Calibri"/>
                <a:ea typeface="Calibri"/>
                <a:cs typeface="Calibri"/>
                <a:sym typeface="Calibri"/>
              </a:rPr>
              <a:t> }  </a:t>
            </a:r>
            <a:endParaRPr>
              <a:solidFill>
                <a:schemeClr val="dk1"/>
              </a:solidFill>
            </a:endParaRPr>
          </a:p>
          <a:p>
            <a:pPr indent="0" lvl="0" marL="0" rtl="0" algn="l">
              <a:spcBef>
                <a:spcPts val="641"/>
              </a:spcBef>
              <a:spcAft>
                <a:spcPts val="0"/>
              </a:spcAft>
              <a:buNone/>
            </a:pPr>
            <a:r>
              <a:rPr lang="en-US" sz="1500">
                <a:solidFill>
                  <a:schemeClr val="dk1"/>
                </a:solidFill>
                <a:latin typeface="Calibri"/>
                <a:ea typeface="Calibri"/>
                <a:cs typeface="Calibri"/>
                <a:sym typeface="Calibri"/>
              </a:rPr>
              <a:t>} </a:t>
            </a:r>
            <a:endParaRPr>
              <a:solidFill>
                <a:schemeClr val="dk1"/>
              </a:solidFill>
            </a:endParaRPr>
          </a:p>
        </p:txBody>
      </p:sp>
      <p:pic>
        <p:nvPicPr>
          <p:cNvPr id="163" name="Google Shape;163;g39e1ead23f4_0_34"/>
          <p:cNvPicPr preferRelativeResize="0"/>
          <p:nvPr/>
        </p:nvPicPr>
        <p:blipFill>
          <a:blip r:embed="rId3">
            <a:alphaModFix/>
          </a:blip>
          <a:stretch>
            <a:fillRect/>
          </a:stretch>
        </p:blipFill>
        <p:spPr>
          <a:xfrm>
            <a:off x="5602873" y="0"/>
            <a:ext cx="6400827" cy="6721450"/>
          </a:xfrm>
          <a:prstGeom prst="rect">
            <a:avLst/>
          </a:prstGeom>
          <a:noFill/>
          <a:ln>
            <a:noFill/>
          </a:ln>
        </p:spPr>
      </p:pic>
      <p:pic>
        <p:nvPicPr>
          <p:cNvPr id="164" name="Google Shape;164;g39e1ead23f4_0_34"/>
          <p:cNvPicPr preferRelativeResize="0"/>
          <p:nvPr/>
        </p:nvPicPr>
        <p:blipFill>
          <a:blip r:embed="rId4">
            <a:alphaModFix/>
          </a:blip>
          <a:stretch>
            <a:fillRect/>
          </a:stretch>
        </p:blipFill>
        <p:spPr>
          <a:xfrm>
            <a:off x="152400" y="2908500"/>
            <a:ext cx="5096300" cy="15941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g39e1ead23f4_0_39"/>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71" name="Google Shape;171;g39e1ead23f4_0_39"/>
          <p:cNvSpPr txBox="1"/>
          <p:nvPr/>
        </p:nvSpPr>
        <p:spPr>
          <a:xfrm>
            <a:off x="0" y="0"/>
            <a:ext cx="3347400" cy="1908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t>class Testimmutablestring1 {  </a:t>
            </a:r>
            <a:endParaRPr/>
          </a:p>
          <a:p>
            <a:pPr indent="0" lvl="0" marL="0" rtl="0" algn="l">
              <a:spcBef>
                <a:spcPts val="0"/>
              </a:spcBef>
              <a:spcAft>
                <a:spcPts val="0"/>
              </a:spcAft>
              <a:buNone/>
            </a:pPr>
            <a:r>
              <a:rPr lang="en-US"/>
              <a:t>  public static void main(String args[]) {  </a:t>
            </a:r>
            <a:endParaRPr/>
          </a:p>
          <a:p>
            <a:pPr indent="0" lvl="0" marL="0" rtl="0" algn="l">
              <a:spcBef>
                <a:spcPts val="0"/>
              </a:spcBef>
              <a:spcAft>
                <a:spcPts val="0"/>
              </a:spcAft>
              <a:buNone/>
            </a:pPr>
            <a:r>
              <a:rPr lang="en-US"/>
              <a:t>    </a:t>
            </a:r>
            <a:r>
              <a:rPr b="1" lang="en-US"/>
              <a:t>String s = "Sachin";  </a:t>
            </a:r>
            <a:endParaRPr b="1"/>
          </a:p>
          <a:p>
            <a:pPr indent="0" lvl="0" marL="0" rtl="0" algn="l">
              <a:spcBef>
                <a:spcPts val="0"/>
              </a:spcBef>
              <a:spcAft>
                <a:spcPts val="0"/>
              </a:spcAft>
              <a:buNone/>
            </a:pPr>
            <a:r>
              <a:rPr b="1" lang="en-US"/>
              <a:t>   </a:t>
            </a:r>
            <a:r>
              <a:rPr b="1" lang="en-US">
                <a:solidFill>
                  <a:srgbClr val="FF0000"/>
                </a:solidFill>
              </a:rPr>
              <a:t> s = </a:t>
            </a:r>
            <a:r>
              <a:rPr b="1" lang="en-US"/>
              <a:t>s.concat(" Tendulkar"); </a:t>
            </a:r>
            <a:r>
              <a:rPr lang="en-US"/>
              <a:t> </a:t>
            </a:r>
            <a:endParaRPr/>
          </a:p>
          <a:p>
            <a:pPr indent="0" lvl="0" marL="0" rtl="0" algn="l">
              <a:spcBef>
                <a:spcPts val="0"/>
              </a:spcBef>
              <a:spcAft>
                <a:spcPts val="0"/>
              </a:spcAft>
              <a:buNone/>
            </a:pPr>
            <a:r>
              <a:rPr lang="en-US"/>
              <a:t>    System.out.println(s);  </a:t>
            </a:r>
            <a:endParaRPr/>
          </a:p>
          <a:p>
            <a:pPr indent="0" lvl="0" marL="0" rtl="0" algn="l">
              <a:spcBef>
                <a:spcPts val="0"/>
              </a:spcBef>
              <a:spcAft>
                <a:spcPts val="0"/>
              </a:spcAft>
              <a:buNone/>
            </a:pPr>
            <a:r>
              <a:rPr lang="en-US"/>
              <a:t>  }  </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t/>
            </a:r>
            <a:endParaRPr/>
          </a:p>
        </p:txBody>
      </p:sp>
      <p:pic>
        <p:nvPicPr>
          <p:cNvPr id="172" name="Google Shape;172;g39e1ead23f4_0_39"/>
          <p:cNvPicPr preferRelativeResize="0"/>
          <p:nvPr/>
        </p:nvPicPr>
        <p:blipFill>
          <a:blip r:embed="rId3">
            <a:alphaModFix/>
          </a:blip>
          <a:stretch>
            <a:fillRect/>
          </a:stretch>
        </p:blipFill>
        <p:spPr>
          <a:xfrm>
            <a:off x="6067050" y="134450"/>
            <a:ext cx="5879650" cy="6365849"/>
          </a:xfrm>
          <a:prstGeom prst="rect">
            <a:avLst/>
          </a:prstGeom>
          <a:noFill/>
          <a:ln>
            <a:noFill/>
          </a:ln>
        </p:spPr>
      </p:pic>
      <p:pic>
        <p:nvPicPr>
          <p:cNvPr id="173" name="Google Shape;173;g39e1ead23f4_0_39"/>
          <p:cNvPicPr preferRelativeResize="0"/>
          <p:nvPr/>
        </p:nvPicPr>
        <p:blipFill>
          <a:blip r:embed="rId4">
            <a:alphaModFix/>
          </a:blip>
          <a:stretch>
            <a:fillRect/>
          </a:stretch>
        </p:blipFill>
        <p:spPr>
          <a:xfrm>
            <a:off x="152400" y="2061000"/>
            <a:ext cx="5631125" cy="17683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g39e1ead23f4_0_54"/>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pic>
        <p:nvPicPr>
          <p:cNvPr id="180" name="Google Shape;180;g39e1ead23f4_0_54"/>
          <p:cNvPicPr preferRelativeResize="0"/>
          <p:nvPr/>
        </p:nvPicPr>
        <p:blipFill>
          <a:blip r:embed="rId3">
            <a:alphaModFix/>
          </a:blip>
          <a:stretch>
            <a:fillRect/>
          </a:stretch>
        </p:blipFill>
        <p:spPr>
          <a:xfrm>
            <a:off x="152400" y="152400"/>
            <a:ext cx="10331125" cy="22407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g39e1ead23f4_0_60"/>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pic>
        <p:nvPicPr>
          <p:cNvPr id="187" name="Google Shape;187;g39e1ead23f4_0_60"/>
          <p:cNvPicPr preferRelativeResize="0"/>
          <p:nvPr/>
        </p:nvPicPr>
        <p:blipFill>
          <a:blip r:embed="rId3">
            <a:alphaModFix/>
          </a:blip>
          <a:stretch>
            <a:fillRect/>
          </a:stretch>
        </p:blipFill>
        <p:spPr>
          <a:xfrm>
            <a:off x="340925" y="861525"/>
            <a:ext cx="6838875" cy="4000100"/>
          </a:xfrm>
          <a:prstGeom prst="rect">
            <a:avLst/>
          </a:prstGeom>
          <a:noFill/>
          <a:ln>
            <a:noFill/>
          </a:ln>
        </p:spPr>
      </p:pic>
      <p:sp>
        <p:nvSpPr>
          <p:cNvPr id="188" name="Google Shape;188;g39e1ead23f4_0_60"/>
          <p:cNvSpPr txBox="1"/>
          <p:nvPr/>
        </p:nvSpPr>
        <p:spPr>
          <a:xfrm>
            <a:off x="385050" y="86175"/>
            <a:ext cx="7890300" cy="52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800">
                <a:solidFill>
                  <a:schemeClr val="dk1"/>
                </a:solidFill>
                <a:latin typeface="Calibri"/>
                <a:ea typeface="Calibri"/>
                <a:cs typeface="Calibri"/>
                <a:sym typeface="Calibri"/>
              </a:rPr>
              <a:t>Explain the memory assignment of s and s1…</a:t>
            </a:r>
            <a:endParaRPr sz="280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g39e1ead23f4_0_65"/>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95" name="Google Shape;195;g39e1ead23f4_0_65"/>
          <p:cNvPicPr preferRelativeResize="0"/>
          <p:nvPr/>
        </p:nvPicPr>
        <p:blipFill>
          <a:blip r:embed="rId3">
            <a:alphaModFix/>
          </a:blip>
          <a:stretch>
            <a:fillRect/>
          </a:stretch>
        </p:blipFill>
        <p:spPr>
          <a:xfrm>
            <a:off x="152400" y="152400"/>
            <a:ext cx="5637751" cy="6496836"/>
          </a:xfrm>
          <a:prstGeom prst="rect">
            <a:avLst/>
          </a:prstGeom>
          <a:noFill/>
          <a:ln>
            <a:noFill/>
          </a:ln>
        </p:spPr>
      </p:pic>
      <p:pic>
        <p:nvPicPr>
          <p:cNvPr id="196" name="Google Shape;196;g39e1ead23f4_0_65"/>
          <p:cNvPicPr preferRelativeResize="0"/>
          <p:nvPr/>
        </p:nvPicPr>
        <p:blipFill>
          <a:blip r:embed="rId4">
            <a:alphaModFix/>
          </a:blip>
          <a:stretch>
            <a:fillRect/>
          </a:stretch>
        </p:blipFill>
        <p:spPr>
          <a:xfrm>
            <a:off x="5790150" y="152400"/>
            <a:ext cx="5947955" cy="64968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g39e1ead23f4_0_74"/>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pic>
        <p:nvPicPr>
          <p:cNvPr id="203" name="Google Shape;203;g39e1ead23f4_0_74"/>
          <p:cNvPicPr preferRelativeResize="0"/>
          <p:nvPr/>
        </p:nvPicPr>
        <p:blipFill>
          <a:blip r:embed="rId3">
            <a:alphaModFix/>
          </a:blip>
          <a:stretch>
            <a:fillRect/>
          </a:stretch>
        </p:blipFill>
        <p:spPr>
          <a:xfrm>
            <a:off x="152400" y="152400"/>
            <a:ext cx="7215800" cy="32281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9"/>
          <p:cNvSpPr txBox="1"/>
          <p:nvPr/>
        </p:nvSpPr>
        <p:spPr>
          <a:xfrm>
            <a:off x="634481" y="274680"/>
            <a:ext cx="10655559" cy="518422"/>
          </a:xfrm>
          <a:prstGeom prst="rect">
            <a:avLst/>
          </a:prstGeom>
          <a:noFill/>
          <a:ln>
            <a:noFill/>
          </a:ln>
        </p:spPr>
        <p:txBody>
          <a:bodyPr anchorCtr="0" anchor="ctr" bIns="45700" lIns="91425" spcFirstLastPara="1" rIns="91425" wrap="square" tIns="45700">
            <a:normAutofit fontScale="75000" lnSpcReduction="20000"/>
          </a:bodyPr>
          <a:lstStyle/>
          <a:p>
            <a:pPr indent="0" lvl="0" marL="0" marR="0" rtl="0" algn="ctr">
              <a:lnSpc>
                <a:spcPct val="100000"/>
              </a:lnSpc>
              <a:spcBef>
                <a:spcPts val="0"/>
              </a:spcBef>
              <a:spcAft>
                <a:spcPts val="0"/>
              </a:spcAft>
              <a:buClr>
                <a:srgbClr val="000000"/>
              </a:buClr>
              <a:buSzPct val="100000"/>
              <a:buFont typeface="Arial"/>
              <a:buNone/>
            </a:pPr>
            <a:r>
              <a:rPr b="1" i="0" lang="en-US" sz="4400" u="none" cap="none" strike="noStrike">
                <a:solidFill>
                  <a:srgbClr val="000000"/>
                </a:solidFill>
                <a:latin typeface="Calibri"/>
                <a:ea typeface="Calibri"/>
                <a:cs typeface="Calibri"/>
                <a:sym typeface="Calibri"/>
              </a:rPr>
              <a:t>String Handling</a:t>
            </a:r>
            <a:endParaRPr b="0" i="0" sz="4400" u="none" cap="none" strike="noStrike">
              <a:solidFill>
                <a:srgbClr val="000000"/>
              </a:solidFill>
              <a:latin typeface="Calibri"/>
              <a:ea typeface="Calibri"/>
              <a:cs typeface="Calibri"/>
              <a:sym typeface="Calibri"/>
            </a:endParaRPr>
          </a:p>
        </p:txBody>
      </p:sp>
      <p:sp>
        <p:nvSpPr>
          <p:cNvPr id="209" name="Google Shape;209;p9"/>
          <p:cNvSpPr txBox="1"/>
          <p:nvPr/>
        </p:nvSpPr>
        <p:spPr>
          <a:xfrm>
            <a:off x="308490" y="877077"/>
            <a:ext cx="11445549" cy="5835938"/>
          </a:xfrm>
          <a:prstGeom prst="rect">
            <a:avLst/>
          </a:prstGeom>
          <a:noFill/>
          <a:ln>
            <a:noFill/>
          </a:ln>
        </p:spPr>
        <p:txBody>
          <a:bodyPr anchorCtr="0" anchor="t" bIns="45700" lIns="91425" spcFirstLastPara="1" rIns="91425" wrap="square" tIns="45700">
            <a:normAutofit fontScale="94500"/>
          </a:bodyPr>
          <a:lstStyle/>
          <a:p>
            <a:pPr indent="0" lvl="0" marL="0" marR="0" rtl="0" algn="l">
              <a:lnSpc>
                <a:spcPct val="100000"/>
              </a:lnSpc>
              <a:spcBef>
                <a:spcPts val="0"/>
              </a:spcBef>
              <a:spcAft>
                <a:spcPts val="0"/>
              </a:spcAft>
              <a:buClr>
                <a:srgbClr val="000000"/>
              </a:buClr>
              <a:buSzPct val="100000"/>
              <a:buFont typeface="Arial"/>
              <a:buNone/>
            </a:pPr>
            <a:r>
              <a:rPr b="0" i="0" lang="en-US" sz="2100" u="none" cap="none" strike="noStrike">
                <a:solidFill>
                  <a:srgbClr val="000000"/>
                </a:solidFill>
                <a:latin typeface="Calibri"/>
                <a:ea typeface="Calibri"/>
                <a:cs typeface="Calibri"/>
                <a:sym typeface="Calibri"/>
              </a:rPr>
              <a:t>public class StringExample{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41"/>
              </a:spcBef>
              <a:spcAft>
                <a:spcPts val="0"/>
              </a:spcAft>
              <a:buClr>
                <a:srgbClr val="000000"/>
              </a:buClr>
              <a:buSzPct val="100000"/>
              <a:buFont typeface="Arial"/>
              <a:buNone/>
            </a:pPr>
            <a:r>
              <a:rPr b="0" i="0" lang="en-US" sz="2100" u="none" cap="none" strike="noStrike">
                <a:solidFill>
                  <a:srgbClr val="000000"/>
                </a:solidFill>
                <a:latin typeface="Calibri"/>
                <a:ea typeface="Calibri"/>
                <a:cs typeface="Calibri"/>
                <a:sym typeface="Calibri"/>
              </a:rPr>
              <a:t>public static void main(String args[]){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41"/>
              </a:spcBef>
              <a:spcAft>
                <a:spcPts val="0"/>
              </a:spcAft>
              <a:buClr>
                <a:srgbClr val="000000"/>
              </a:buClr>
              <a:buSzPct val="100000"/>
              <a:buFont typeface="Arial"/>
              <a:buNone/>
            </a:pPr>
            <a:r>
              <a:rPr b="0" i="0" lang="en-US" sz="2100" u="none" cap="none" strike="noStrike">
                <a:solidFill>
                  <a:srgbClr val="000000"/>
                </a:solidFill>
                <a:latin typeface="Calibri"/>
                <a:ea typeface="Calibri"/>
                <a:cs typeface="Calibri"/>
                <a:sym typeface="Calibri"/>
              </a:rPr>
              <a:t>String s1="java";//creating string by java string literal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41"/>
              </a:spcBef>
              <a:spcAft>
                <a:spcPts val="0"/>
              </a:spcAft>
              <a:buClr>
                <a:srgbClr val="000000"/>
              </a:buClr>
              <a:buSzPct val="100000"/>
              <a:buFont typeface="Arial"/>
              <a:buNone/>
            </a:pPr>
            <a:r>
              <a:rPr b="0" i="0" lang="en-US" sz="2100" u="none" cap="none" strike="noStrike">
                <a:solidFill>
                  <a:srgbClr val="000000"/>
                </a:solidFill>
                <a:latin typeface="Calibri"/>
                <a:ea typeface="Calibri"/>
                <a:cs typeface="Calibri"/>
                <a:sym typeface="Calibri"/>
              </a:rPr>
              <a:t>char ch[]={'s','t','r','i','n','g','s'};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41"/>
              </a:spcBef>
              <a:spcAft>
                <a:spcPts val="0"/>
              </a:spcAft>
              <a:buClr>
                <a:srgbClr val="000000"/>
              </a:buClr>
              <a:buSzPct val="100000"/>
              <a:buFont typeface="Arial"/>
              <a:buNone/>
            </a:pPr>
            <a:r>
              <a:rPr b="0" i="0" lang="en-US" sz="2100" u="none" cap="none" strike="noStrike">
                <a:solidFill>
                  <a:srgbClr val="000000"/>
                </a:solidFill>
                <a:latin typeface="Calibri"/>
                <a:ea typeface="Calibri"/>
                <a:cs typeface="Calibri"/>
                <a:sym typeface="Calibri"/>
              </a:rPr>
              <a:t>String s2=new String(ch);//converting char array to string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41"/>
              </a:spcBef>
              <a:spcAft>
                <a:spcPts val="0"/>
              </a:spcAft>
              <a:buClr>
                <a:srgbClr val="000000"/>
              </a:buClr>
              <a:buSzPct val="100000"/>
              <a:buFont typeface="Arial"/>
              <a:buNone/>
            </a:pPr>
            <a:r>
              <a:rPr b="0" i="0" lang="en-US" sz="2100" u="none" cap="none" strike="noStrike">
                <a:solidFill>
                  <a:srgbClr val="000000"/>
                </a:solidFill>
                <a:latin typeface="Calibri"/>
                <a:ea typeface="Calibri"/>
                <a:cs typeface="Calibri"/>
                <a:sym typeface="Calibri"/>
              </a:rPr>
              <a:t>String s3=new String("example");//creating java string by new keyword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41"/>
              </a:spcBef>
              <a:spcAft>
                <a:spcPts val="0"/>
              </a:spcAft>
              <a:buClr>
                <a:srgbClr val="000000"/>
              </a:buClr>
              <a:buSzPct val="100000"/>
              <a:buFont typeface="Arial"/>
              <a:buNone/>
            </a:pPr>
            <a:r>
              <a:rPr b="0" i="0" lang="en-US" sz="2100" u="none" cap="none" strike="noStrike">
                <a:solidFill>
                  <a:srgbClr val="000000"/>
                </a:solidFill>
                <a:latin typeface="Calibri"/>
                <a:ea typeface="Calibri"/>
                <a:cs typeface="Calibri"/>
                <a:sym typeface="Calibri"/>
              </a:rPr>
              <a:t>System.out.println(s1);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41"/>
              </a:spcBef>
              <a:spcAft>
                <a:spcPts val="0"/>
              </a:spcAft>
              <a:buClr>
                <a:srgbClr val="000000"/>
              </a:buClr>
              <a:buSzPct val="100000"/>
              <a:buFont typeface="Arial"/>
              <a:buNone/>
            </a:pPr>
            <a:r>
              <a:rPr b="0" i="0" lang="en-US" sz="2100" u="none" cap="none" strike="noStrike">
                <a:solidFill>
                  <a:srgbClr val="000000"/>
                </a:solidFill>
                <a:latin typeface="Calibri"/>
                <a:ea typeface="Calibri"/>
                <a:cs typeface="Calibri"/>
                <a:sym typeface="Calibri"/>
              </a:rPr>
              <a:t>System.out.println(s2);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41"/>
              </a:spcBef>
              <a:spcAft>
                <a:spcPts val="0"/>
              </a:spcAft>
              <a:buClr>
                <a:srgbClr val="000000"/>
              </a:buClr>
              <a:buSzPct val="100000"/>
              <a:buFont typeface="Arial"/>
              <a:buNone/>
            </a:pPr>
            <a:r>
              <a:rPr b="0" i="0" lang="en-US" sz="2100" u="none" cap="none" strike="noStrike">
                <a:solidFill>
                  <a:srgbClr val="000000"/>
                </a:solidFill>
                <a:latin typeface="Calibri"/>
                <a:ea typeface="Calibri"/>
                <a:cs typeface="Calibri"/>
                <a:sym typeface="Calibri"/>
              </a:rPr>
              <a:t>System.out.println(s3);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41"/>
              </a:spcBef>
              <a:spcAft>
                <a:spcPts val="0"/>
              </a:spcAft>
              <a:buClr>
                <a:srgbClr val="000000"/>
              </a:buClr>
              <a:buSzPct val="100000"/>
              <a:buFont typeface="Arial"/>
              <a:buNone/>
            </a:pPr>
            <a:r>
              <a:rPr b="0" i="0" lang="en-US" sz="21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210" name="Google Shape;210;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Sindhu K, Dept. of ISE</a:t>
            </a:r>
            <a:endParaRPr/>
          </a:p>
        </p:txBody>
      </p:sp>
      <p:sp>
        <p:nvSpPr>
          <p:cNvPr id="211" name="Google Shape;211;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11"/>
          <p:cNvSpPr txBox="1"/>
          <p:nvPr/>
        </p:nvSpPr>
        <p:spPr>
          <a:xfrm>
            <a:off x="335902" y="134721"/>
            <a:ext cx="10655559" cy="518422"/>
          </a:xfrm>
          <a:prstGeom prst="rect">
            <a:avLst/>
          </a:prstGeom>
          <a:noFill/>
          <a:ln>
            <a:noFill/>
          </a:ln>
        </p:spPr>
        <p:txBody>
          <a:bodyPr anchorCtr="0" anchor="ctr" bIns="45700" lIns="91425" spcFirstLastPara="1" rIns="91425" wrap="square" tIns="45700">
            <a:normAutofit fontScale="75000" lnSpcReduction="20000"/>
          </a:bodyPr>
          <a:lstStyle/>
          <a:p>
            <a:pPr indent="0" lvl="0" marL="0" marR="0" rtl="0" algn="ctr">
              <a:lnSpc>
                <a:spcPct val="100000"/>
              </a:lnSpc>
              <a:spcBef>
                <a:spcPts val="0"/>
              </a:spcBef>
              <a:spcAft>
                <a:spcPts val="0"/>
              </a:spcAft>
              <a:buClr>
                <a:srgbClr val="000000"/>
              </a:buClr>
              <a:buSzPct val="100000"/>
              <a:buFont typeface="Arial"/>
              <a:buNone/>
            </a:pPr>
            <a:r>
              <a:rPr b="1" i="0" lang="en-US" sz="4400" u="none" cap="none" strike="noStrike">
                <a:solidFill>
                  <a:srgbClr val="000000"/>
                </a:solidFill>
                <a:latin typeface="Calibri"/>
                <a:ea typeface="Calibri"/>
                <a:cs typeface="Calibri"/>
                <a:sym typeface="Calibri"/>
              </a:rPr>
              <a:t>String Handling</a:t>
            </a:r>
            <a:endParaRPr b="0" i="0" sz="4400" u="none" cap="none" strike="noStrike">
              <a:solidFill>
                <a:srgbClr val="000000"/>
              </a:solidFill>
              <a:latin typeface="Calibri"/>
              <a:ea typeface="Calibri"/>
              <a:cs typeface="Calibri"/>
              <a:sym typeface="Calibri"/>
            </a:endParaRPr>
          </a:p>
        </p:txBody>
      </p:sp>
      <p:sp>
        <p:nvSpPr>
          <p:cNvPr id="217" name="Google Shape;217;p11"/>
          <p:cNvSpPr txBox="1"/>
          <p:nvPr/>
        </p:nvSpPr>
        <p:spPr>
          <a:xfrm>
            <a:off x="335902" y="653143"/>
            <a:ext cx="11364686" cy="5835938"/>
          </a:xfrm>
          <a:prstGeom prst="rect">
            <a:avLst/>
          </a:prstGeom>
          <a:noFill/>
          <a:ln>
            <a:noFill/>
          </a:ln>
        </p:spPr>
        <p:txBody>
          <a:bodyPr anchorCtr="0" anchor="t" bIns="45700" lIns="91425" spcFirstLastPara="1" rIns="91425" wrap="square" tIns="45700">
            <a:normAutofit fontScale="94500"/>
          </a:bodyPr>
          <a:lstStyle/>
          <a:p>
            <a:pPr indent="-192913" lvl="0" marL="342900" marR="0" rtl="0" algn="l">
              <a:lnSpc>
                <a:spcPct val="100000"/>
              </a:lnSpc>
              <a:spcBef>
                <a:spcPts val="0"/>
              </a:spcBef>
              <a:spcAft>
                <a:spcPts val="0"/>
              </a:spcAft>
              <a:buClr>
                <a:schemeClr val="dk1"/>
              </a:buClr>
              <a:buSzPct val="100000"/>
              <a:buFont typeface="Arial"/>
              <a:buNone/>
            </a:pPr>
            <a:r>
              <a:t/>
            </a:r>
            <a:endParaRPr b="0" i="0" sz="2500" u="none" cap="none" strike="noStrike">
              <a:solidFill>
                <a:srgbClr val="000000"/>
              </a:solidFill>
              <a:latin typeface="Calibri"/>
              <a:ea typeface="Calibri"/>
              <a:cs typeface="Calibri"/>
              <a:sym typeface="Calibri"/>
            </a:endParaRPr>
          </a:p>
          <a:p>
            <a:pPr indent="-342931" lvl="0" marL="342900" marR="0" rtl="0" algn="l">
              <a:lnSpc>
                <a:spcPct val="100000"/>
              </a:lnSpc>
              <a:spcBef>
                <a:spcPts val="641"/>
              </a:spcBef>
              <a:spcAft>
                <a:spcPts val="0"/>
              </a:spcAft>
              <a:buClr>
                <a:srgbClr val="000000"/>
              </a:buClr>
              <a:buSzPct val="100000"/>
              <a:buFont typeface="Arial"/>
              <a:buChar char="•"/>
            </a:pPr>
            <a:r>
              <a:rPr b="0" i="0" lang="en-US" sz="2500" u="none" cap="none" strike="noStrike">
                <a:solidFill>
                  <a:srgbClr val="000000"/>
                </a:solidFill>
                <a:latin typeface="Calibri"/>
                <a:ea typeface="Calibri"/>
                <a:cs typeface="Calibri"/>
                <a:sym typeface="Calibri"/>
              </a:rPr>
              <a:t>If modifiable string is desired, Java provides two options: StringBuffer and StringBuilder. </a:t>
            </a:r>
            <a:endParaRPr b="0" i="0" sz="1400" u="none" cap="none" strike="noStrike">
              <a:solidFill>
                <a:srgbClr val="000000"/>
              </a:solidFill>
              <a:latin typeface="Arial"/>
              <a:ea typeface="Arial"/>
              <a:cs typeface="Arial"/>
              <a:sym typeface="Arial"/>
            </a:endParaRPr>
          </a:p>
          <a:p>
            <a:pPr indent="-342931" lvl="0" marL="342900" marR="0" rtl="0" algn="l">
              <a:lnSpc>
                <a:spcPct val="100000"/>
              </a:lnSpc>
              <a:spcBef>
                <a:spcPts val="641"/>
              </a:spcBef>
              <a:spcAft>
                <a:spcPts val="0"/>
              </a:spcAft>
              <a:buClr>
                <a:srgbClr val="000000"/>
              </a:buClr>
              <a:buSzPct val="100000"/>
              <a:buFont typeface="Arial"/>
              <a:buChar char="•"/>
            </a:pPr>
            <a:r>
              <a:rPr b="0" i="0" lang="en-US" sz="2500" u="none" cap="none" strike="noStrike">
                <a:solidFill>
                  <a:srgbClr val="000000"/>
                </a:solidFill>
                <a:latin typeface="Calibri"/>
                <a:ea typeface="Calibri"/>
                <a:cs typeface="Calibri"/>
                <a:sym typeface="Calibri"/>
              </a:rPr>
              <a:t>Both hold strings that can be modified after they are created.</a:t>
            </a:r>
            <a:endParaRPr b="0" i="0" sz="1400" u="none" cap="none" strike="noStrike">
              <a:solidFill>
                <a:srgbClr val="000000"/>
              </a:solidFill>
              <a:latin typeface="Arial"/>
              <a:ea typeface="Arial"/>
              <a:cs typeface="Arial"/>
              <a:sym typeface="Arial"/>
            </a:endParaRPr>
          </a:p>
          <a:p>
            <a:pPr indent="-342931" lvl="0" marL="342900" marR="0" rtl="0" algn="l">
              <a:lnSpc>
                <a:spcPct val="100000"/>
              </a:lnSpc>
              <a:spcBef>
                <a:spcPts val="641"/>
              </a:spcBef>
              <a:spcAft>
                <a:spcPts val="0"/>
              </a:spcAft>
              <a:buClr>
                <a:srgbClr val="000000"/>
              </a:buClr>
              <a:buSzPct val="100000"/>
              <a:buFont typeface="Arial"/>
              <a:buChar char="•"/>
            </a:pPr>
            <a:r>
              <a:rPr b="0" i="0" lang="en-US" sz="2500" u="none" cap="none" strike="noStrike">
                <a:solidFill>
                  <a:srgbClr val="000000"/>
                </a:solidFill>
                <a:latin typeface="Calibri"/>
                <a:ea typeface="Calibri"/>
                <a:cs typeface="Calibri"/>
                <a:sym typeface="Calibri"/>
              </a:rPr>
              <a:t>The String, StringBuffer, and StringBuilder classes are defined in java.lang.</a:t>
            </a:r>
            <a:endParaRPr b="0" i="0" sz="1400" u="none" cap="none" strike="noStrike">
              <a:solidFill>
                <a:srgbClr val="000000"/>
              </a:solidFill>
              <a:latin typeface="Arial"/>
              <a:ea typeface="Arial"/>
              <a:cs typeface="Arial"/>
              <a:sym typeface="Arial"/>
            </a:endParaRPr>
          </a:p>
          <a:p>
            <a:pPr indent="-192913" lvl="0" marL="342900" marR="0" rtl="0" algn="l">
              <a:lnSpc>
                <a:spcPct val="100000"/>
              </a:lnSpc>
              <a:spcBef>
                <a:spcPts val="641"/>
              </a:spcBef>
              <a:spcAft>
                <a:spcPts val="0"/>
              </a:spcAft>
              <a:buClr>
                <a:schemeClr val="dk1"/>
              </a:buClr>
              <a:buSzPct val="100000"/>
              <a:buFont typeface="Arial"/>
              <a:buNone/>
            </a:pPr>
            <a:r>
              <a:t/>
            </a:r>
            <a:endParaRPr b="0" i="0" sz="2500" u="none" cap="none" strike="noStrike">
              <a:solidFill>
                <a:srgbClr val="000000"/>
              </a:solidFill>
              <a:latin typeface="Calibri"/>
              <a:ea typeface="Calibri"/>
              <a:cs typeface="Calibri"/>
              <a:sym typeface="Calibri"/>
            </a:endParaRPr>
          </a:p>
          <a:p>
            <a:pPr indent="0" lvl="0" marL="0" marR="0" rtl="0" algn="l">
              <a:lnSpc>
                <a:spcPct val="100000"/>
              </a:lnSpc>
              <a:spcBef>
                <a:spcPts val="641"/>
              </a:spcBef>
              <a:spcAft>
                <a:spcPts val="0"/>
              </a:spcAft>
              <a:buClr>
                <a:srgbClr val="000000"/>
              </a:buClr>
              <a:buSzPct val="100000"/>
              <a:buFont typeface="Arial"/>
              <a:buNone/>
            </a:pPr>
            <a:r>
              <a:t/>
            </a:r>
            <a:endParaRPr b="0" i="0" sz="1500" u="none" cap="none" strike="noStrike">
              <a:solidFill>
                <a:srgbClr val="000000"/>
              </a:solidFill>
              <a:latin typeface="Calibri"/>
              <a:ea typeface="Calibri"/>
              <a:cs typeface="Calibri"/>
              <a:sym typeface="Calibri"/>
            </a:endParaRPr>
          </a:p>
          <a:p>
            <a:pPr indent="0" lvl="0" marL="0" marR="0" rtl="0" algn="l">
              <a:lnSpc>
                <a:spcPct val="100000"/>
              </a:lnSpc>
              <a:spcBef>
                <a:spcPts val="641"/>
              </a:spcBef>
              <a:spcAft>
                <a:spcPts val="0"/>
              </a:spcAft>
              <a:buClr>
                <a:srgbClr val="000000"/>
              </a:buClr>
              <a:buSzPct val="100000"/>
              <a:buFont typeface="Arial"/>
              <a:buNone/>
            </a:pPr>
            <a:r>
              <a:t/>
            </a:r>
            <a:endParaRPr b="0" i="0" sz="1500" u="none" cap="none" strike="noStrike">
              <a:solidFill>
                <a:srgbClr val="000000"/>
              </a:solidFill>
              <a:latin typeface="Calibri"/>
              <a:ea typeface="Calibri"/>
              <a:cs typeface="Calibri"/>
              <a:sym typeface="Calibri"/>
            </a:endParaRPr>
          </a:p>
        </p:txBody>
      </p:sp>
      <p:sp>
        <p:nvSpPr>
          <p:cNvPr id="218" name="Google Shape;218;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Sindhu K, Dept. of ISE</a:t>
            </a:r>
            <a:endParaRPr/>
          </a:p>
        </p:txBody>
      </p:sp>
      <p:sp>
        <p:nvSpPr>
          <p:cNvPr id="219" name="Google Shape;219;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12"/>
          <p:cNvSpPr txBox="1"/>
          <p:nvPr/>
        </p:nvSpPr>
        <p:spPr>
          <a:xfrm>
            <a:off x="634481" y="274680"/>
            <a:ext cx="10655559" cy="518422"/>
          </a:xfrm>
          <a:prstGeom prst="rect">
            <a:avLst/>
          </a:prstGeom>
          <a:noFill/>
          <a:ln>
            <a:noFill/>
          </a:ln>
        </p:spPr>
        <p:txBody>
          <a:bodyPr anchorCtr="0" anchor="ctr" bIns="45700" lIns="91425" spcFirstLastPara="1" rIns="91425" wrap="square" tIns="45700">
            <a:normAutofit fontScale="75000" lnSpcReduction="20000"/>
          </a:bodyPr>
          <a:lstStyle/>
          <a:p>
            <a:pPr indent="0" lvl="0" marL="0" marR="0" rtl="0" algn="ctr">
              <a:lnSpc>
                <a:spcPct val="100000"/>
              </a:lnSpc>
              <a:spcBef>
                <a:spcPts val="0"/>
              </a:spcBef>
              <a:spcAft>
                <a:spcPts val="0"/>
              </a:spcAft>
              <a:buClr>
                <a:srgbClr val="000000"/>
              </a:buClr>
              <a:buSzPct val="100000"/>
              <a:buFont typeface="Arial"/>
              <a:buNone/>
            </a:pPr>
            <a:r>
              <a:rPr b="1" i="0" lang="en-US" sz="4400" u="none" cap="none" strike="noStrike">
                <a:solidFill>
                  <a:srgbClr val="000000"/>
                </a:solidFill>
                <a:latin typeface="Calibri"/>
                <a:ea typeface="Calibri"/>
                <a:cs typeface="Calibri"/>
                <a:sym typeface="Calibri"/>
              </a:rPr>
              <a:t>String Handling</a:t>
            </a:r>
            <a:endParaRPr b="0" i="0" sz="4400" u="none" cap="none" strike="noStrike">
              <a:solidFill>
                <a:srgbClr val="000000"/>
              </a:solidFill>
              <a:latin typeface="Calibri"/>
              <a:ea typeface="Calibri"/>
              <a:cs typeface="Calibri"/>
              <a:sym typeface="Calibri"/>
            </a:endParaRPr>
          </a:p>
        </p:txBody>
      </p:sp>
      <p:sp>
        <p:nvSpPr>
          <p:cNvPr id="225" name="Google Shape;225;p12"/>
          <p:cNvSpPr txBox="1"/>
          <p:nvPr/>
        </p:nvSpPr>
        <p:spPr>
          <a:xfrm>
            <a:off x="783771" y="793102"/>
            <a:ext cx="10506269" cy="5835938"/>
          </a:xfrm>
          <a:prstGeom prst="rect">
            <a:avLst/>
          </a:prstGeom>
          <a:noFill/>
          <a:ln>
            <a:noFill/>
          </a:ln>
        </p:spPr>
        <p:txBody>
          <a:bodyPr anchorCtr="0" anchor="t" bIns="45700" lIns="91425" spcFirstLastPara="1" rIns="91425" wrap="square" tIns="45700">
            <a:normAutofit fontScale="94500"/>
          </a:bodyPr>
          <a:lstStyle/>
          <a:p>
            <a:pPr indent="0" lvl="0" marL="0" marR="0" rtl="0" algn="l">
              <a:lnSpc>
                <a:spcPct val="100000"/>
              </a:lnSpc>
              <a:spcBef>
                <a:spcPts val="0"/>
              </a:spcBef>
              <a:spcAft>
                <a:spcPts val="0"/>
              </a:spcAft>
              <a:buClr>
                <a:srgbClr val="000000"/>
              </a:buClr>
              <a:buSzPct val="100000"/>
              <a:buFont typeface="Arial"/>
              <a:buNone/>
            </a:pPr>
            <a:r>
              <a:rPr b="1" i="0" lang="en-US" sz="2500" u="none" cap="none" strike="noStrike">
                <a:solidFill>
                  <a:srgbClr val="000000"/>
                </a:solidFill>
                <a:latin typeface="Calibri"/>
                <a:ea typeface="Calibri"/>
                <a:cs typeface="Calibri"/>
                <a:sym typeface="Calibri"/>
              </a:rPr>
              <a:t>String Constructors</a:t>
            </a:r>
            <a:endParaRPr b="1" i="0" sz="3200" u="none" cap="none" strike="noStrike">
              <a:solidFill>
                <a:srgbClr val="000000"/>
              </a:solidFill>
              <a:latin typeface="Calibri"/>
              <a:ea typeface="Calibri"/>
              <a:cs typeface="Calibri"/>
              <a:sym typeface="Calibri"/>
            </a:endParaRPr>
          </a:p>
          <a:p>
            <a:pPr indent="0" lvl="0" marL="0" marR="0" rtl="0" algn="l">
              <a:lnSpc>
                <a:spcPct val="100000"/>
              </a:lnSpc>
              <a:spcBef>
                <a:spcPts val="641"/>
              </a:spcBef>
              <a:spcAft>
                <a:spcPts val="0"/>
              </a:spcAft>
              <a:buClr>
                <a:srgbClr val="000000"/>
              </a:buClr>
              <a:buSzPct val="100000"/>
              <a:buFont typeface="Arial"/>
              <a:buNone/>
            </a:pPr>
            <a:r>
              <a:rPr b="0" i="0" lang="en-US" sz="1900" u="none" cap="none" strike="noStrike">
                <a:solidFill>
                  <a:srgbClr val="000000"/>
                </a:solidFill>
                <a:latin typeface="Calibri"/>
                <a:ea typeface="Calibri"/>
                <a:cs typeface="Calibri"/>
                <a:sym typeface="Calibri"/>
              </a:rPr>
              <a:t>The String class supports several constructors.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41"/>
              </a:spcBef>
              <a:spcAft>
                <a:spcPts val="0"/>
              </a:spcAft>
              <a:buClr>
                <a:srgbClr val="000000"/>
              </a:buClr>
              <a:buSzPct val="100000"/>
              <a:buFont typeface="Arial"/>
              <a:buNone/>
            </a:pPr>
            <a:r>
              <a:rPr b="1" i="0" lang="en-US" sz="1900" u="none" cap="none" strike="noStrike">
                <a:solidFill>
                  <a:srgbClr val="000000"/>
                </a:solidFill>
                <a:latin typeface="Calibri"/>
                <a:ea typeface="Calibri"/>
                <a:cs typeface="Calibri"/>
                <a:sym typeface="Calibri"/>
              </a:rPr>
              <a:t>To create an empty String, call the default constructor.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41"/>
              </a:spcBef>
              <a:spcAft>
                <a:spcPts val="0"/>
              </a:spcAft>
              <a:buClr>
                <a:srgbClr val="000000"/>
              </a:buClr>
              <a:buSzPct val="100000"/>
              <a:buFont typeface="Arial"/>
              <a:buNone/>
            </a:pPr>
            <a:r>
              <a:rPr b="0" i="0" lang="en-US" sz="1900" u="none" cap="none" strike="noStrike">
                <a:solidFill>
                  <a:srgbClr val="000000"/>
                </a:solidFill>
                <a:latin typeface="Calibri"/>
                <a:ea typeface="Calibri"/>
                <a:cs typeface="Calibri"/>
                <a:sym typeface="Calibri"/>
              </a:rPr>
              <a:t>String s = new String();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41"/>
              </a:spcBef>
              <a:spcAft>
                <a:spcPts val="0"/>
              </a:spcAft>
              <a:buClr>
                <a:srgbClr val="000000"/>
              </a:buClr>
              <a:buSzPct val="100000"/>
              <a:buFont typeface="Arial"/>
              <a:buNone/>
            </a:pPr>
            <a:r>
              <a:rPr b="0" i="0" lang="en-US" sz="1900" u="none" cap="none" strike="noStrike">
                <a:solidFill>
                  <a:srgbClr val="000000"/>
                </a:solidFill>
                <a:latin typeface="Calibri"/>
                <a:ea typeface="Calibri"/>
                <a:cs typeface="Calibri"/>
                <a:sym typeface="Calibri"/>
              </a:rPr>
              <a:t>will create an instance of String with no characters in it.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41"/>
              </a:spcBef>
              <a:spcAft>
                <a:spcPts val="0"/>
              </a:spcAft>
              <a:buClr>
                <a:srgbClr val="000000"/>
              </a:buClr>
              <a:buSzPct val="100000"/>
              <a:buFont typeface="Arial"/>
              <a:buNone/>
            </a:pPr>
            <a:r>
              <a:rPr b="1" i="0" lang="en-US" sz="1900" u="none" cap="none" strike="noStrike">
                <a:solidFill>
                  <a:srgbClr val="000000"/>
                </a:solidFill>
                <a:latin typeface="Calibri"/>
                <a:ea typeface="Calibri"/>
                <a:cs typeface="Calibri"/>
                <a:sym typeface="Calibri"/>
              </a:rPr>
              <a:t>To create a String initialized by an array of characters, use the constructor shown here: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41"/>
              </a:spcBef>
              <a:spcAft>
                <a:spcPts val="0"/>
              </a:spcAft>
              <a:buClr>
                <a:srgbClr val="000000"/>
              </a:buClr>
              <a:buSzPct val="100000"/>
              <a:buFont typeface="Arial"/>
              <a:buNone/>
            </a:pPr>
            <a:r>
              <a:rPr b="0" i="0" lang="en-US" sz="1900" u="none" cap="none" strike="noStrike">
                <a:solidFill>
                  <a:srgbClr val="000000"/>
                </a:solidFill>
                <a:latin typeface="Calibri"/>
                <a:ea typeface="Calibri"/>
                <a:cs typeface="Calibri"/>
                <a:sym typeface="Calibri"/>
              </a:rPr>
              <a:t>String(char chars[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41"/>
              </a:spcBef>
              <a:spcAft>
                <a:spcPts val="0"/>
              </a:spcAft>
              <a:buClr>
                <a:srgbClr val="000000"/>
              </a:buClr>
              <a:buSzPct val="100000"/>
              <a:buFont typeface="Arial"/>
              <a:buNone/>
            </a:pPr>
            <a:r>
              <a:t/>
            </a:r>
            <a:endParaRPr b="0" i="0" sz="3200" u="none" cap="none" strike="noStrike">
              <a:solidFill>
                <a:srgbClr val="000000"/>
              </a:solidFill>
              <a:latin typeface="Calibri"/>
              <a:ea typeface="Calibri"/>
              <a:cs typeface="Calibri"/>
              <a:sym typeface="Calibri"/>
            </a:endParaRPr>
          </a:p>
        </p:txBody>
      </p:sp>
      <p:pic>
        <p:nvPicPr>
          <p:cNvPr id="226" name="Google Shape;226;p12"/>
          <p:cNvPicPr preferRelativeResize="0"/>
          <p:nvPr/>
        </p:nvPicPr>
        <p:blipFill rotWithShape="1">
          <a:blip r:embed="rId3">
            <a:alphaModFix/>
          </a:blip>
          <a:srcRect b="0" l="0" r="0" t="0"/>
          <a:stretch/>
        </p:blipFill>
        <p:spPr>
          <a:xfrm>
            <a:off x="993904" y="3521723"/>
            <a:ext cx="7026146" cy="850252"/>
          </a:xfrm>
          <a:prstGeom prst="rect">
            <a:avLst/>
          </a:prstGeom>
          <a:noFill/>
          <a:ln>
            <a:noFill/>
          </a:ln>
        </p:spPr>
      </p:pic>
      <p:sp>
        <p:nvSpPr>
          <p:cNvPr id="227" name="Google Shape;227;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Sindhu K, Dept. of ISE</a:t>
            </a:r>
            <a:endParaRPr/>
          </a:p>
        </p:txBody>
      </p:sp>
      <p:sp>
        <p:nvSpPr>
          <p:cNvPr id="228" name="Google Shape;228;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13"/>
          <p:cNvSpPr txBox="1"/>
          <p:nvPr/>
        </p:nvSpPr>
        <p:spPr>
          <a:xfrm>
            <a:off x="634481" y="274680"/>
            <a:ext cx="10655559" cy="518422"/>
          </a:xfrm>
          <a:prstGeom prst="rect">
            <a:avLst/>
          </a:prstGeom>
          <a:noFill/>
          <a:ln>
            <a:noFill/>
          </a:ln>
        </p:spPr>
        <p:txBody>
          <a:bodyPr anchorCtr="0" anchor="ctr" bIns="45700" lIns="91425" spcFirstLastPara="1" rIns="91425" wrap="square" tIns="45700">
            <a:normAutofit fontScale="75000" lnSpcReduction="20000"/>
          </a:bodyPr>
          <a:lstStyle/>
          <a:p>
            <a:pPr indent="0" lvl="0" marL="0" marR="0" rtl="0" algn="ctr">
              <a:lnSpc>
                <a:spcPct val="100000"/>
              </a:lnSpc>
              <a:spcBef>
                <a:spcPts val="0"/>
              </a:spcBef>
              <a:spcAft>
                <a:spcPts val="0"/>
              </a:spcAft>
              <a:buClr>
                <a:srgbClr val="000000"/>
              </a:buClr>
              <a:buSzPct val="100000"/>
              <a:buFont typeface="Arial"/>
              <a:buNone/>
            </a:pPr>
            <a:r>
              <a:rPr b="1" i="0" lang="en-US" sz="4400" u="none" cap="none" strike="noStrike">
                <a:solidFill>
                  <a:srgbClr val="000000"/>
                </a:solidFill>
                <a:latin typeface="Calibri"/>
                <a:ea typeface="Calibri"/>
                <a:cs typeface="Calibri"/>
                <a:sym typeface="Calibri"/>
              </a:rPr>
              <a:t>String Handling</a:t>
            </a:r>
            <a:endParaRPr b="0" i="0" sz="4400" u="none" cap="none" strike="noStrike">
              <a:solidFill>
                <a:srgbClr val="000000"/>
              </a:solidFill>
              <a:latin typeface="Calibri"/>
              <a:ea typeface="Calibri"/>
              <a:cs typeface="Calibri"/>
              <a:sym typeface="Calibri"/>
            </a:endParaRPr>
          </a:p>
        </p:txBody>
      </p:sp>
      <p:sp>
        <p:nvSpPr>
          <p:cNvPr id="234" name="Google Shape;234;p13"/>
          <p:cNvSpPr txBox="1"/>
          <p:nvPr/>
        </p:nvSpPr>
        <p:spPr>
          <a:xfrm>
            <a:off x="783771" y="793102"/>
            <a:ext cx="10506269" cy="5835938"/>
          </a:xfrm>
          <a:prstGeom prst="rect">
            <a:avLst/>
          </a:prstGeom>
          <a:noFill/>
          <a:ln>
            <a:noFill/>
          </a:ln>
        </p:spPr>
        <p:txBody>
          <a:bodyPr anchorCtr="0" anchor="t" bIns="45700" lIns="91425" spcFirstLastPara="1" rIns="91425" wrap="square" tIns="45700">
            <a:normAutofit fontScale="94500"/>
          </a:bodyPr>
          <a:lstStyle/>
          <a:p>
            <a:pPr indent="0" lvl="0" marL="0" marR="0" rtl="0" algn="l">
              <a:lnSpc>
                <a:spcPct val="100000"/>
              </a:lnSpc>
              <a:spcBef>
                <a:spcPts val="0"/>
              </a:spcBef>
              <a:spcAft>
                <a:spcPts val="0"/>
              </a:spcAft>
              <a:buClr>
                <a:srgbClr val="000000"/>
              </a:buClr>
              <a:buSzPct val="100000"/>
              <a:buFont typeface="Arial"/>
              <a:buNone/>
            </a:pPr>
            <a:r>
              <a:rPr b="1" i="0" lang="en-US" sz="2500" u="none" cap="none" strike="noStrike">
                <a:solidFill>
                  <a:srgbClr val="000000"/>
                </a:solidFill>
                <a:latin typeface="Calibri"/>
                <a:ea typeface="Calibri"/>
                <a:cs typeface="Calibri"/>
                <a:sym typeface="Calibri"/>
              </a:rPr>
              <a:t>String Constructors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41"/>
              </a:spcBef>
              <a:spcAft>
                <a:spcPts val="0"/>
              </a:spcAft>
              <a:buClr>
                <a:srgbClr val="000000"/>
              </a:buClr>
              <a:buSzPct val="100000"/>
              <a:buFont typeface="Arial"/>
              <a:buNone/>
            </a:pPr>
            <a:r>
              <a:rPr b="0" i="0" lang="en-US" sz="1900" u="none" cap="none" strike="noStrike">
                <a:solidFill>
                  <a:srgbClr val="000000"/>
                </a:solidFill>
                <a:latin typeface="Calibri"/>
                <a:ea typeface="Calibri"/>
                <a:cs typeface="Calibri"/>
                <a:sym typeface="Calibri"/>
              </a:rPr>
              <a:t>You can specify a </a:t>
            </a:r>
            <a:r>
              <a:rPr b="1" i="0" lang="en-US" sz="1900" u="none" cap="none" strike="noStrike">
                <a:solidFill>
                  <a:srgbClr val="000000"/>
                </a:solidFill>
                <a:latin typeface="Calibri"/>
                <a:ea typeface="Calibri"/>
                <a:cs typeface="Calibri"/>
                <a:sym typeface="Calibri"/>
              </a:rPr>
              <a:t>subrange of a character array as an initializer using the following constructor: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41"/>
              </a:spcBef>
              <a:spcAft>
                <a:spcPts val="0"/>
              </a:spcAft>
              <a:buClr>
                <a:srgbClr val="000000"/>
              </a:buClr>
              <a:buSzPct val="100000"/>
              <a:buFont typeface="Arial"/>
              <a:buNone/>
            </a:pPr>
            <a:r>
              <a:rPr b="0" i="0" lang="en-US" sz="1900" u="none" cap="none" strike="noStrike">
                <a:solidFill>
                  <a:srgbClr val="000000"/>
                </a:solidFill>
                <a:latin typeface="Calibri"/>
                <a:ea typeface="Calibri"/>
                <a:cs typeface="Calibri"/>
                <a:sym typeface="Calibri"/>
              </a:rPr>
              <a:t>String(char chars[ ], int startIndex, int numChars)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41"/>
              </a:spcBef>
              <a:spcAft>
                <a:spcPts val="0"/>
              </a:spcAft>
              <a:buClr>
                <a:srgbClr val="000000"/>
              </a:buClr>
              <a:buSzPct val="100000"/>
              <a:buFont typeface="Arial"/>
              <a:buNone/>
            </a:pPr>
            <a:r>
              <a:rPr b="0" i="0" lang="en-US" sz="1900" u="none" cap="none" strike="noStrike">
                <a:solidFill>
                  <a:srgbClr val="000000"/>
                </a:solidFill>
                <a:latin typeface="Calibri"/>
                <a:ea typeface="Calibri"/>
                <a:cs typeface="Calibri"/>
                <a:sym typeface="Calibri"/>
              </a:rPr>
              <a:t>Here, startIndex specifies the index at which the subrange begins, and numChars specifies the number of characters to use.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41"/>
              </a:spcBef>
              <a:spcAft>
                <a:spcPts val="0"/>
              </a:spcAft>
              <a:buClr>
                <a:srgbClr val="000000"/>
              </a:buClr>
              <a:buSzPct val="100000"/>
              <a:buFont typeface="Arial"/>
              <a:buNone/>
            </a:pPr>
            <a:r>
              <a:rPr b="0" i="0" lang="en-US" sz="1900" u="none" cap="none" strike="noStrike">
                <a:solidFill>
                  <a:srgbClr val="000000"/>
                </a:solidFill>
                <a:latin typeface="Calibri"/>
                <a:ea typeface="Calibri"/>
                <a:cs typeface="Calibri"/>
                <a:sym typeface="Calibri"/>
              </a:rPr>
              <a:t>char chars[] = { 'a', 'b', 'c', 'd', 'e', 'f'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41"/>
              </a:spcBef>
              <a:spcAft>
                <a:spcPts val="0"/>
              </a:spcAft>
              <a:buClr>
                <a:srgbClr val="000000"/>
              </a:buClr>
              <a:buSzPct val="100000"/>
              <a:buFont typeface="Arial"/>
              <a:buNone/>
            </a:pPr>
            <a:r>
              <a:rPr b="0" i="0" lang="en-US" sz="1900" u="none" cap="none" strike="noStrike">
                <a:solidFill>
                  <a:srgbClr val="000000"/>
                </a:solidFill>
                <a:latin typeface="Calibri"/>
                <a:ea typeface="Calibri"/>
                <a:cs typeface="Calibri"/>
                <a:sym typeface="Calibri"/>
              </a:rPr>
              <a:t>String s = new String(chars, 2, 3);</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41"/>
              </a:spcBef>
              <a:spcAft>
                <a:spcPts val="0"/>
              </a:spcAft>
              <a:buClr>
                <a:srgbClr val="000000"/>
              </a:buClr>
              <a:buSzPct val="100000"/>
              <a:buFont typeface="Arial"/>
              <a:buNone/>
            </a:pPr>
            <a:r>
              <a:rPr b="0" i="0" lang="en-US" sz="1900" u="none" cap="none" strike="noStrike">
                <a:solidFill>
                  <a:srgbClr val="000000"/>
                </a:solidFill>
                <a:latin typeface="Calibri"/>
                <a:ea typeface="Calibri"/>
                <a:cs typeface="Calibri"/>
                <a:sym typeface="Calibri"/>
              </a:rPr>
              <a:t>This initializes s with the characters cde.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41"/>
              </a:spcBef>
              <a:spcAft>
                <a:spcPts val="0"/>
              </a:spcAft>
              <a:buClr>
                <a:srgbClr val="000000"/>
              </a:buClr>
              <a:buSzPct val="100000"/>
              <a:buFont typeface="Arial"/>
              <a:buNone/>
            </a:pPr>
            <a:r>
              <a:t/>
            </a:r>
            <a:endParaRPr b="0" i="0" sz="1900" u="none" cap="none" strike="noStrike">
              <a:solidFill>
                <a:srgbClr val="000000"/>
              </a:solidFill>
              <a:latin typeface="Calibri"/>
              <a:ea typeface="Calibri"/>
              <a:cs typeface="Calibri"/>
              <a:sym typeface="Calibri"/>
            </a:endParaRPr>
          </a:p>
          <a:p>
            <a:pPr indent="0" lvl="0" marL="0" marR="0" rtl="0" algn="l">
              <a:lnSpc>
                <a:spcPct val="100000"/>
              </a:lnSpc>
              <a:spcBef>
                <a:spcPts val="641"/>
              </a:spcBef>
              <a:spcAft>
                <a:spcPts val="0"/>
              </a:spcAft>
              <a:buClr>
                <a:srgbClr val="000000"/>
              </a:buClr>
              <a:buSzPct val="100000"/>
              <a:buFont typeface="Arial"/>
              <a:buNone/>
            </a:pPr>
            <a:r>
              <a:rPr b="0" i="0" lang="en-US" sz="1900" u="none" cap="none" strike="noStrike">
                <a:solidFill>
                  <a:srgbClr val="000000"/>
                </a:solidFill>
                <a:latin typeface="Calibri"/>
                <a:ea typeface="Calibri"/>
                <a:cs typeface="Calibri"/>
                <a:sym typeface="Calibri"/>
              </a:rPr>
              <a:t>You can construct a </a:t>
            </a:r>
            <a:r>
              <a:rPr b="1" i="0" lang="en-US" sz="1900" u="none" cap="none" strike="noStrike">
                <a:solidFill>
                  <a:srgbClr val="000000"/>
                </a:solidFill>
                <a:latin typeface="Calibri"/>
                <a:ea typeface="Calibri"/>
                <a:cs typeface="Calibri"/>
                <a:sym typeface="Calibri"/>
              </a:rPr>
              <a:t>String object that contains the same character sequence as another String object using this constructor: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41"/>
              </a:spcBef>
              <a:spcAft>
                <a:spcPts val="0"/>
              </a:spcAft>
              <a:buClr>
                <a:srgbClr val="000000"/>
              </a:buClr>
              <a:buSzPct val="100000"/>
              <a:buFont typeface="Arial"/>
              <a:buNone/>
            </a:pPr>
            <a:r>
              <a:t/>
            </a:r>
            <a:endParaRPr b="1" i="0" sz="1900" u="none" cap="none" strike="noStrike">
              <a:solidFill>
                <a:srgbClr val="000000"/>
              </a:solidFill>
              <a:latin typeface="Calibri"/>
              <a:ea typeface="Calibri"/>
              <a:cs typeface="Calibri"/>
              <a:sym typeface="Calibri"/>
            </a:endParaRPr>
          </a:p>
          <a:p>
            <a:pPr indent="0" lvl="0" marL="0" marR="0" rtl="0" algn="l">
              <a:lnSpc>
                <a:spcPct val="100000"/>
              </a:lnSpc>
              <a:spcBef>
                <a:spcPts val="641"/>
              </a:spcBef>
              <a:spcAft>
                <a:spcPts val="0"/>
              </a:spcAft>
              <a:buClr>
                <a:srgbClr val="000000"/>
              </a:buClr>
              <a:buSzPct val="100000"/>
              <a:buFont typeface="Arial"/>
              <a:buNone/>
            </a:pPr>
            <a:r>
              <a:rPr b="0" i="0" lang="en-US" sz="1900" u="none" cap="none" strike="noStrike">
                <a:solidFill>
                  <a:srgbClr val="000000"/>
                </a:solidFill>
                <a:latin typeface="Calibri"/>
                <a:ea typeface="Calibri"/>
                <a:cs typeface="Calibri"/>
                <a:sym typeface="Calibri"/>
              </a:rPr>
              <a:t>String(String strObj)</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41"/>
              </a:spcBef>
              <a:spcAft>
                <a:spcPts val="0"/>
              </a:spcAft>
              <a:buClr>
                <a:srgbClr val="000000"/>
              </a:buClr>
              <a:buSzPct val="100000"/>
              <a:buFont typeface="Arial"/>
              <a:buNone/>
            </a:pPr>
            <a:r>
              <a:rPr b="0" i="0" lang="en-US" sz="1900" u="none" cap="none" strike="noStrike">
                <a:solidFill>
                  <a:srgbClr val="000000"/>
                </a:solidFill>
                <a:latin typeface="Calibri"/>
                <a:ea typeface="Calibri"/>
                <a:cs typeface="Calibri"/>
                <a:sym typeface="Calibri"/>
              </a:rPr>
              <a:t>Here, strObj is a String object. </a:t>
            </a:r>
            <a:endParaRPr b="0" i="0" sz="3200" u="none" cap="none" strike="noStrike">
              <a:solidFill>
                <a:srgbClr val="000000"/>
              </a:solidFill>
              <a:latin typeface="Calibri"/>
              <a:ea typeface="Calibri"/>
              <a:cs typeface="Calibri"/>
              <a:sym typeface="Calibri"/>
            </a:endParaRPr>
          </a:p>
        </p:txBody>
      </p:sp>
      <p:sp>
        <p:nvSpPr>
          <p:cNvPr id="235" name="Google Shape;235;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Sindhu K, Dept. of ISE</a:t>
            </a:r>
            <a:endParaRPr/>
          </a:p>
        </p:txBody>
      </p:sp>
      <p:sp>
        <p:nvSpPr>
          <p:cNvPr id="236" name="Google Shape;236;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14"/>
          <p:cNvSpPr txBox="1"/>
          <p:nvPr/>
        </p:nvSpPr>
        <p:spPr>
          <a:xfrm>
            <a:off x="634481" y="274680"/>
            <a:ext cx="10655559" cy="518422"/>
          </a:xfrm>
          <a:prstGeom prst="rect">
            <a:avLst/>
          </a:prstGeom>
          <a:noFill/>
          <a:ln>
            <a:noFill/>
          </a:ln>
        </p:spPr>
        <p:txBody>
          <a:bodyPr anchorCtr="0" anchor="ctr" bIns="45700" lIns="91425" spcFirstLastPara="1" rIns="91425" wrap="square" tIns="45700">
            <a:normAutofit fontScale="75000" lnSpcReduction="20000"/>
          </a:bodyPr>
          <a:lstStyle/>
          <a:p>
            <a:pPr indent="0" lvl="0" marL="0" marR="0" rtl="0" algn="ctr">
              <a:lnSpc>
                <a:spcPct val="100000"/>
              </a:lnSpc>
              <a:spcBef>
                <a:spcPts val="0"/>
              </a:spcBef>
              <a:spcAft>
                <a:spcPts val="0"/>
              </a:spcAft>
              <a:buClr>
                <a:srgbClr val="000000"/>
              </a:buClr>
              <a:buSzPct val="100000"/>
              <a:buFont typeface="Arial"/>
              <a:buNone/>
            </a:pPr>
            <a:r>
              <a:rPr b="1" i="0" lang="en-US" sz="4400" u="none" cap="none" strike="noStrike">
                <a:solidFill>
                  <a:srgbClr val="000000"/>
                </a:solidFill>
                <a:latin typeface="Calibri"/>
                <a:ea typeface="Calibri"/>
                <a:cs typeface="Calibri"/>
                <a:sym typeface="Calibri"/>
              </a:rPr>
              <a:t>String Handling</a:t>
            </a:r>
            <a:endParaRPr b="0" i="0" sz="4400" u="none" cap="none" strike="noStrike">
              <a:solidFill>
                <a:srgbClr val="000000"/>
              </a:solidFill>
              <a:latin typeface="Calibri"/>
              <a:ea typeface="Calibri"/>
              <a:cs typeface="Calibri"/>
              <a:sym typeface="Calibri"/>
            </a:endParaRPr>
          </a:p>
        </p:txBody>
      </p:sp>
      <p:sp>
        <p:nvSpPr>
          <p:cNvPr id="242" name="Google Shape;242;p14"/>
          <p:cNvSpPr txBox="1"/>
          <p:nvPr/>
        </p:nvSpPr>
        <p:spPr>
          <a:xfrm>
            <a:off x="783771" y="793102"/>
            <a:ext cx="10506269" cy="5835938"/>
          </a:xfrm>
          <a:prstGeom prst="rect">
            <a:avLst/>
          </a:prstGeom>
          <a:noFill/>
          <a:ln>
            <a:noFill/>
          </a:ln>
        </p:spPr>
        <p:txBody>
          <a:bodyPr anchorCtr="0" anchor="t" bIns="45700" lIns="91425" spcFirstLastPara="1" rIns="91425" wrap="square" tIns="45700">
            <a:normAutofit fontScale="94500"/>
          </a:bodyPr>
          <a:lstStyle/>
          <a:p>
            <a:pPr indent="0" lvl="0" marL="0" marR="0" rtl="0" algn="l">
              <a:lnSpc>
                <a:spcPct val="100000"/>
              </a:lnSpc>
              <a:spcBef>
                <a:spcPts val="0"/>
              </a:spcBef>
              <a:spcAft>
                <a:spcPts val="0"/>
              </a:spcAft>
              <a:buClr>
                <a:srgbClr val="000000"/>
              </a:buClr>
              <a:buSzPct val="100000"/>
              <a:buFont typeface="Arial"/>
              <a:buNone/>
            </a:pPr>
            <a:r>
              <a:rPr b="1" i="0" lang="en-US" sz="2500" u="none" cap="none" strike="noStrike">
                <a:solidFill>
                  <a:srgbClr val="000000"/>
                </a:solidFill>
                <a:latin typeface="Calibri"/>
                <a:ea typeface="Calibri"/>
                <a:cs typeface="Calibri"/>
                <a:sym typeface="Calibri"/>
              </a:rPr>
              <a:t>String Constructors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41"/>
              </a:spcBef>
              <a:spcAft>
                <a:spcPts val="0"/>
              </a:spcAft>
              <a:buClr>
                <a:srgbClr val="000000"/>
              </a:buClr>
              <a:buSzPct val="100000"/>
              <a:buFont typeface="Arial"/>
              <a:buNone/>
            </a:pPr>
            <a:r>
              <a:rPr b="0" i="0" lang="en-US" sz="1900" u="none" cap="none" strike="noStrike">
                <a:solidFill>
                  <a:srgbClr val="000000"/>
                </a:solidFill>
                <a:latin typeface="Calibri"/>
                <a:ea typeface="Calibri"/>
                <a:cs typeface="Calibri"/>
                <a:sym typeface="Calibri"/>
              </a:rPr>
              <a:t>// Construct one String from another.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41"/>
              </a:spcBef>
              <a:spcAft>
                <a:spcPts val="0"/>
              </a:spcAft>
              <a:buClr>
                <a:srgbClr val="000000"/>
              </a:buClr>
              <a:buSzPct val="100000"/>
              <a:buFont typeface="Arial"/>
              <a:buNone/>
            </a:pPr>
            <a:r>
              <a:rPr b="0" i="0" lang="en-US" sz="1900" u="none" cap="none" strike="noStrike">
                <a:solidFill>
                  <a:srgbClr val="000000"/>
                </a:solidFill>
                <a:latin typeface="Calibri"/>
                <a:ea typeface="Calibri"/>
                <a:cs typeface="Calibri"/>
                <a:sym typeface="Calibri"/>
              </a:rPr>
              <a:t>class MakeString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41"/>
              </a:spcBef>
              <a:spcAft>
                <a:spcPts val="0"/>
              </a:spcAft>
              <a:buClr>
                <a:srgbClr val="000000"/>
              </a:buClr>
              <a:buSzPct val="100000"/>
              <a:buFont typeface="Arial"/>
              <a:buNone/>
            </a:pPr>
            <a:r>
              <a:rPr b="0" i="0" lang="en-US" sz="1900" u="none" cap="none" strike="noStrike">
                <a:solidFill>
                  <a:srgbClr val="000000"/>
                </a:solidFill>
                <a:latin typeface="Calibri"/>
                <a:ea typeface="Calibri"/>
                <a:cs typeface="Calibri"/>
                <a:sym typeface="Calibri"/>
              </a:rPr>
              <a:t>public static void main(String args[]) {</a:t>
            </a:r>
            <a:endParaRPr b="0" i="0" sz="1400" u="none" cap="none" strike="noStrike">
              <a:solidFill>
                <a:srgbClr val="000000"/>
              </a:solidFill>
              <a:latin typeface="Arial"/>
              <a:ea typeface="Arial"/>
              <a:cs typeface="Arial"/>
              <a:sym typeface="Arial"/>
            </a:endParaRPr>
          </a:p>
          <a:p>
            <a:pPr indent="0" lvl="0" marL="625475" marR="0" rtl="0" algn="l">
              <a:lnSpc>
                <a:spcPct val="100000"/>
              </a:lnSpc>
              <a:spcBef>
                <a:spcPts val="641"/>
              </a:spcBef>
              <a:spcAft>
                <a:spcPts val="0"/>
              </a:spcAft>
              <a:buClr>
                <a:srgbClr val="000000"/>
              </a:buClr>
              <a:buSzPct val="100000"/>
              <a:buFont typeface="Arial"/>
              <a:buNone/>
            </a:pPr>
            <a:r>
              <a:rPr b="0" i="0" lang="en-US" sz="1900" u="none" cap="none" strike="noStrike">
                <a:solidFill>
                  <a:srgbClr val="000000"/>
                </a:solidFill>
                <a:latin typeface="Calibri"/>
                <a:ea typeface="Calibri"/>
                <a:cs typeface="Calibri"/>
                <a:sym typeface="Calibri"/>
              </a:rPr>
              <a:t>char c[] = {'J', 'a', 'v', 'a'};</a:t>
            </a:r>
            <a:endParaRPr b="0" i="0" sz="1400" u="none" cap="none" strike="noStrike">
              <a:solidFill>
                <a:srgbClr val="000000"/>
              </a:solidFill>
              <a:latin typeface="Arial"/>
              <a:ea typeface="Arial"/>
              <a:cs typeface="Arial"/>
              <a:sym typeface="Arial"/>
            </a:endParaRPr>
          </a:p>
          <a:p>
            <a:pPr indent="0" lvl="0" marL="625475" marR="0" rtl="0" algn="l">
              <a:lnSpc>
                <a:spcPct val="100000"/>
              </a:lnSpc>
              <a:spcBef>
                <a:spcPts val="641"/>
              </a:spcBef>
              <a:spcAft>
                <a:spcPts val="0"/>
              </a:spcAft>
              <a:buClr>
                <a:srgbClr val="000000"/>
              </a:buClr>
              <a:buSzPct val="100000"/>
              <a:buFont typeface="Arial"/>
              <a:buNone/>
            </a:pPr>
            <a:r>
              <a:rPr b="0" i="0" lang="en-US" sz="1900" u="none" cap="none" strike="noStrike">
                <a:solidFill>
                  <a:srgbClr val="000000"/>
                </a:solidFill>
                <a:latin typeface="Calibri"/>
                <a:ea typeface="Calibri"/>
                <a:cs typeface="Calibri"/>
                <a:sym typeface="Calibri"/>
              </a:rPr>
              <a:t>String s1 = new String(c);</a:t>
            </a:r>
            <a:endParaRPr b="0" i="0" sz="1400" u="none" cap="none" strike="noStrike">
              <a:solidFill>
                <a:srgbClr val="000000"/>
              </a:solidFill>
              <a:latin typeface="Arial"/>
              <a:ea typeface="Arial"/>
              <a:cs typeface="Arial"/>
              <a:sym typeface="Arial"/>
            </a:endParaRPr>
          </a:p>
          <a:p>
            <a:pPr indent="0" lvl="0" marL="625475" marR="0" rtl="0" algn="l">
              <a:lnSpc>
                <a:spcPct val="100000"/>
              </a:lnSpc>
              <a:spcBef>
                <a:spcPts val="641"/>
              </a:spcBef>
              <a:spcAft>
                <a:spcPts val="0"/>
              </a:spcAft>
              <a:buClr>
                <a:srgbClr val="000000"/>
              </a:buClr>
              <a:buSzPct val="100000"/>
              <a:buFont typeface="Arial"/>
              <a:buNone/>
            </a:pPr>
            <a:r>
              <a:rPr b="0" i="0" lang="en-US" sz="1900" u="none" cap="none" strike="noStrike">
                <a:solidFill>
                  <a:srgbClr val="000000"/>
                </a:solidFill>
                <a:latin typeface="Calibri"/>
                <a:ea typeface="Calibri"/>
                <a:cs typeface="Calibri"/>
                <a:sym typeface="Calibri"/>
              </a:rPr>
              <a:t>String s2 = new String(s1);</a:t>
            </a:r>
            <a:endParaRPr b="0" i="0" sz="1400" u="none" cap="none" strike="noStrike">
              <a:solidFill>
                <a:srgbClr val="000000"/>
              </a:solidFill>
              <a:latin typeface="Arial"/>
              <a:ea typeface="Arial"/>
              <a:cs typeface="Arial"/>
              <a:sym typeface="Arial"/>
            </a:endParaRPr>
          </a:p>
          <a:p>
            <a:pPr indent="0" lvl="0" marL="625475" marR="0" rtl="0" algn="l">
              <a:lnSpc>
                <a:spcPct val="100000"/>
              </a:lnSpc>
              <a:spcBef>
                <a:spcPts val="641"/>
              </a:spcBef>
              <a:spcAft>
                <a:spcPts val="0"/>
              </a:spcAft>
              <a:buClr>
                <a:srgbClr val="000000"/>
              </a:buClr>
              <a:buSzPct val="100000"/>
              <a:buFont typeface="Arial"/>
              <a:buNone/>
            </a:pPr>
            <a:r>
              <a:rPr b="0" i="0" lang="en-US" sz="1900" u="none" cap="none" strike="noStrike">
                <a:solidFill>
                  <a:srgbClr val="000000"/>
                </a:solidFill>
                <a:latin typeface="Calibri"/>
                <a:ea typeface="Calibri"/>
                <a:cs typeface="Calibri"/>
                <a:sym typeface="Calibri"/>
              </a:rPr>
              <a:t>System.out.println(s1);</a:t>
            </a:r>
            <a:endParaRPr b="0" i="0" sz="1400" u="none" cap="none" strike="noStrike">
              <a:solidFill>
                <a:srgbClr val="000000"/>
              </a:solidFill>
              <a:latin typeface="Arial"/>
              <a:ea typeface="Arial"/>
              <a:cs typeface="Arial"/>
              <a:sym typeface="Arial"/>
            </a:endParaRPr>
          </a:p>
          <a:p>
            <a:pPr indent="0" lvl="0" marL="625475" marR="0" rtl="0" algn="l">
              <a:lnSpc>
                <a:spcPct val="100000"/>
              </a:lnSpc>
              <a:spcBef>
                <a:spcPts val="641"/>
              </a:spcBef>
              <a:spcAft>
                <a:spcPts val="0"/>
              </a:spcAft>
              <a:buClr>
                <a:srgbClr val="000000"/>
              </a:buClr>
              <a:buSzPct val="100000"/>
              <a:buFont typeface="Arial"/>
              <a:buNone/>
            </a:pPr>
            <a:r>
              <a:rPr b="0" i="0" lang="en-US" sz="1900" u="none" cap="none" strike="noStrike">
                <a:solidFill>
                  <a:srgbClr val="000000"/>
                </a:solidFill>
                <a:latin typeface="Calibri"/>
                <a:ea typeface="Calibri"/>
                <a:cs typeface="Calibri"/>
                <a:sym typeface="Calibri"/>
              </a:rPr>
              <a:t>System.out.println(s2);</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41"/>
              </a:spcBef>
              <a:spcAft>
                <a:spcPts val="0"/>
              </a:spcAft>
              <a:buClr>
                <a:srgbClr val="000000"/>
              </a:buClr>
              <a:buSzPct val="100000"/>
              <a:buFont typeface="Arial"/>
              <a:buNone/>
            </a:pPr>
            <a:r>
              <a:rPr b="0" i="0" lang="en-US" sz="1900" u="none" cap="none" strike="noStrike">
                <a:solidFill>
                  <a:srgbClr val="000000"/>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41"/>
              </a:spcBef>
              <a:spcAft>
                <a:spcPts val="0"/>
              </a:spcAft>
              <a:buClr>
                <a:srgbClr val="000000"/>
              </a:buClr>
              <a:buSzPct val="100000"/>
              <a:buFont typeface="Arial"/>
              <a:buNone/>
            </a:pPr>
            <a:r>
              <a:rPr b="0" i="0" lang="en-US" sz="1900" u="none" cap="none" strike="noStrike">
                <a:solidFill>
                  <a:srgbClr val="000000"/>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41"/>
              </a:spcBef>
              <a:spcAft>
                <a:spcPts val="0"/>
              </a:spcAft>
              <a:buClr>
                <a:srgbClr val="000000"/>
              </a:buClr>
              <a:buSzPct val="100000"/>
              <a:buFont typeface="Arial"/>
              <a:buNone/>
            </a:pPr>
            <a:r>
              <a:rPr b="0" i="0" lang="en-US" sz="1900" u="none" cap="none" strike="noStrike">
                <a:solidFill>
                  <a:srgbClr val="000000"/>
                </a:solidFill>
                <a:latin typeface="Calibri"/>
                <a:ea typeface="Calibri"/>
                <a:cs typeface="Calibri"/>
                <a:sym typeface="Calibri"/>
              </a:rPr>
              <a:t>The output from this program is as follows: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41"/>
              </a:spcBef>
              <a:spcAft>
                <a:spcPts val="0"/>
              </a:spcAft>
              <a:buClr>
                <a:srgbClr val="000000"/>
              </a:buClr>
              <a:buSzPct val="100000"/>
              <a:buFont typeface="Arial"/>
              <a:buNone/>
            </a:pPr>
            <a:r>
              <a:rPr b="0" i="0" lang="en-US" sz="1900" u="none" cap="none" strike="noStrike">
                <a:solidFill>
                  <a:srgbClr val="000000"/>
                </a:solidFill>
                <a:latin typeface="Calibri"/>
                <a:ea typeface="Calibri"/>
                <a:cs typeface="Calibri"/>
                <a:sym typeface="Calibri"/>
              </a:rPr>
              <a:t>Java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41"/>
              </a:spcBef>
              <a:spcAft>
                <a:spcPts val="0"/>
              </a:spcAft>
              <a:buClr>
                <a:srgbClr val="000000"/>
              </a:buClr>
              <a:buSzPct val="100000"/>
              <a:buFont typeface="Arial"/>
              <a:buNone/>
            </a:pPr>
            <a:r>
              <a:rPr b="0" i="0" lang="en-US" sz="1900" u="none" cap="none" strike="noStrike">
                <a:solidFill>
                  <a:srgbClr val="000000"/>
                </a:solidFill>
                <a:latin typeface="Calibri"/>
                <a:ea typeface="Calibri"/>
                <a:cs typeface="Calibri"/>
                <a:sym typeface="Calibri"/>
              </a:rPr>
              <a:t>Java</a:t>
            </a:r>
            <a:endParaRPr b="0" i="0" sz="3200" u="none" cap="none" strike="noStrike">
              <a:solidFill>
                <a:srgbClr val="000000"/>
              </a:solidFill>
              <a:latin typeface="Calibri"/>
              <a:ea typeface="Calibri"/>
              <a:cs typeface="Calibri"/>
              <a:sym typeface="Calibri"/>
            </a:endParaRPr>
          </a:p>
        </p:txBody>
      </p:sp>
      <p:sp>
        <p:nvSpPr>
          <p:cNvPr id="243" name="Google Shape;243;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Sindhu K, Dept. of ISE</a:t>
            </a:r>
            <a:endParaRPr/>
          </a:p>
        </p:txBody>
      </p:sp>
      <p:sp>
        <p:nvSpPr>
          <p:cNvPr id="244" name="Google Shape;244;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15"/>
          <p:cNvSpPr txBox="1"/>
          <p:nvPr/>
        </p:nvSpPr>
        <p:spPr>
          <a:xfrm>
            <a:off x="634481" y="274680"/>
            <a:ext cx="10655559" cy="518422"/>
          </a:xfrm>
          <a:prstGeom prst="rect">
            <a:avLst/>
          </a:prstGeom>
          <a:noFill/>
          <a:ln>
            <a:noFill/>
          </a:ln>
        </p:spPr>
        <p:txBody>
          <a:bodyPr anchorCtr="0" anchor="ctr" bIns="45700" lIns="91425" spcFirstLastPara="1" rIns="91425" wrap="square" tIns="45700">
            <a:normAutofit fontScale="75000" lnSpcReduction="20000"/>
          </a:bodyPr>
          <a:lstStyle/>
          <a:p>
            <a:pPr indent="0" lvl="0" marL="0" marR="0" rtl="0" algn="ctr">
              <a:lnSpc>
                <a:spcPct val="100000"/>
              </a:lnSpc>
              <a:spcBef>
                <a:spcPts val="0"/>
              </a:spcBef>
              <a:spcAft>
                <a:spcPts val="0"/>
              </a:spcAft>
              <a:buClr>
                <a:srgbClr val="000000"/>
              </a:buClr>
              <a:buSzPct val="100000"/>
              <a:buFont typeface="Arial"/>
              <a:buNone/>
            </a:pPr>
            <a:r>
              <a:rPr b="1" i="0" lang="en-US" sz="4400" u="none" cap="none" strike="noStrike">
                <a:solidFill>
                  <a:srgbClr val="000000"/>
                </a:solidFill>
                <a:latin typeface="Calibri"/>
                <a:ea typeface="Calibri"/>
                <a:cs typeface="Calibri"/>
                <a:sym typeface="Calibri"/>
              </a:rPr>
              <a:t>String Handling</a:t>
            </a:r>
            <a:endParaRPr b="0" i="0" sz="4400" u="none" cap="none" strike="noStrike">
              <a:solidFill>
                <a:srgbClr val="000000"/>
              </a:solidFill>
              <a:latin typeface="Calibri"/>
              <a:ea typeface="Calibri"/>
              <a:cs typeface="Calibri"/>
              <a:sym typeface="Calibri"/>
            </a:endParaRPr>
          </a:p>
        </p:txBody>
      </p:sp>
      <p:sp>
        <p:nvSpPr>
          <p:cNvPr id="250" name="Google Shape;250;p15"/>
          <p:cNvSpPr txBox="1"/>
          <p:nvPr/>
        </p:nvSpPr>
        <p:spPr>
          <a:xfrm>
            <a:off x="783771" y="793102"/>
            <a:ext cx="10506269" cy="5835938"/>
          </a:xfrm>
          <a:prstGeom prst="rect">
            <a:avLst/>
          </a:prstGeom>
          <a:noFill/>
          <a:ln>
            <a:noFill/>
          </a:ln>
        </p:spPr>
        <p:txBody>
          <a:bodyPr anchorCtr="0" anchor="t" bIns="45700" lIns="91425" spcFirstLastPara="1" rIns="91425" wrap="square" tIns="45700">
            <a:normAutofit fontScale="94500"/>
          </a:bodyPr>
          <a:lstStyle/>
          <a:p>
            <a:pPr indent="0" lvl="0" marL="0" marR="0" rtl="0" algn="l">
              <a:lnSpc>
                <a:spcPct val="100000"/>
              </a:lnSpc>
              <a:spcBef>
                <a:spcPts val="0"/>
              </a:spcBef>
              <a:spcAft>
                <a:spcPts val="0"/>
              </a:spcAft>
              <a:buClr>
                <a:srgbClr val="000000"/>
              </a:buClr>
              <a:buSzPct val="100000"/>
              <a:buFont typeface="Arial"/>
              <a:buNone/>
            </a:pPr>
            <a:r>
              <a:rPr b="1" i="0" lang="en-US" sz="2500" u="none" cap="none" strike="noStrike">
                <a:solidFill>
                  <a:srgbClr val="000000"/>
                </a:solidFill>
                <a:latin typeface="Calibri"/>
                <a:ea typeface="Calibri"/>
                <a:cs typeface="Calibri"/>
                <a:sym typeface="Calibri"/>
              </a:rPr>
              <a:t>String Length</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41"/>
              </a:spcBef>
              <a:spcAft>
                <a:spcPts val="0"/>
              </a:spcAft>
              <a:buClr>
                <a:srgbClr val="000000"/>
              </a:buClr>
              <a:buSzPct val="100000"/>
              <a:buFont typeface="Arial"/>
              <a:buNone/>
            </a:pPr>
            <a:r>
              <a:rPr b="0" i="0" lang="en-US" sz="2500" u="none" cap="none" strike="noStrike">
                <a:solidFill>
                  <a:srgbClr val="000000"/>
                </a:solidFill>
                <a:latin typeface="Calibri"/>
                <a:ea typeface="Calibri"/>
                <a:cs typeface="Calibri"/>
                <a:sym typeface="Calibri"/>
              </a:rPr>
              <a:t>The length of a string is the number of characters that it contains.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41"/>
              </a:spcBef>
              <a:spcAft>
                <a:spcPts val="0"/>
              </a:spcAft>
              <a:buClr>
                <a:srgbClr val="000000"/>
              </a:buClr>
              <a:buSzPct val="100000"/>
              <a:buFont typeface="Arial"/>
              <a:buNone/>
            </a:pPr>
            <a:r>
              <a:rPr b="0" i="0" lang="en-US" sz="2500" u="none" cap="none" strike="noStrike">
                <a:solidFill>
                  <a:srgbClr val="000000"/>
                </a:solidFill>
                <a:latin typeface="Calibri"/>
                <a:ea typeface="Calibri"/>
                <a:cs typeface="Calibri"/>
                <a:sym typeface="Calibri"/>
              </a:rPr>
              <a:t>To obtain this value, call the length( ) method, shown here: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41"/>
              </a:spcBef>
              <a:spcAft>
                <a:spcPts val="0"/>
              </a:spcAft>
              <a:buClr>
                <a:srgbClr val="000000"/>
              </a:buClr>
              <a:buSzPct val="100000"/>
              <a:buFont typeface="Arial"/>
              <a:buNone/>
            </a:pPr>
            <a:r>
              <a:rPr b="0" i="0" lang="en-US" sz="2500" u="none" cap="none" strike="noStrike">
                <a:solidFill>
                  <a:srgbClr val="000000"/>
                </a:solidFill>
                <a:latin typeface="Calibri"/>
                <a:ea typeface="Calibri"/>
                <a:cs typeface="Calibri"/>
                <a:sym typeface="Calibri"/>
              </a:rPr>
              <a:t>int length(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41"/>
              </a:spcBef>
              <a:spcAft>
                <a:spcPts val="0"/>
              </a:spcAft>
              <a:buClr>
                <a:srgbClr val="000000"/>
              </a:buClr>
              <a:buSzPct val="100000"/>
              <a:buFont typeface="Arial"/>
              <a:buNone/>
            </a:pPr>
            <a:r>
              <a:t/>
            </a:r>
            <a:endParaRPr b="0" i="0" sz="2500" u="none" cap="none" strike="noStrike">
              <a:solidFill>
                <a:srgbClr val="000000"/>
              </a:solidFill>
              <a:latin typeface="Calibri"/>
              <a:ea typeface="Calibri"/>
              <a:cs typeface="Calibri"/>
              <a:sym typeface="Calibri"/>
            </a:endParaRPr>
          </a:p>
          <a:p>
            <a:pPr indent="0" lvl="0" marL="0" marR="0" rtl="0" algn="l">
              <a:lnSpc>
                <a:spcPct val="100000"/>
              </a:lnSpc>
              <a:spcBef>
                <a:spcPts val="641"/>
              </a:spcBef>
              <a:spcAft>
                <a:spcPts val="0"/>
              </a:spcAft>
              <a:buClr>
                <a:srgbClr val="000000"/>
              </a:buClr>
              <a:buSzPct val="100000"/>
              <a:buFont typeface="Arial"/>
              <a:buNone/>
            </a:pPr>
            <a:r>
              <a:rPr b="0" i="0" lang="en-US" sz="2500" u="none" cap="none" strike="noStrike">
                <a:solidFill>
                  <a:srgbClr val="000000"/>
                </a:solidFill>
                <a:latin typeface="Calibri"/>
                <a:ea typeface="Calibri"/>
                <a:cs typeface="Calibri"/>
                <a:sym typeface="Calibri"/>
              </a:rPr>
              <a:t>The following fragment prints “3”, since there are three characters in the string 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41"/>
              </a:spcBef>
              <a:spcAft>
                <a:spcPts val="0"/>
              </a:spcAft>
              <a:buClr>
                <a:srgbClr val="000000"/>
              </a:buClr>
              <a:buSzPct val="100000"/>
              <a:buFont typeface="Arial"/>
              <a:buNone/>
            </a:pPr>
            <a:r>
              <a:t/>
            </a:r>
            <a:endParaRPr b="0" i="0" sz="2500" u="none" cap="none" strike="noStrike">
              <a:solidFill>
                <a:srgbClr val="000000"/>
              </a:solidFill>
              <a:latin typeface="Calibri"/>
              <a:ea typeface="Calibri"/>
              <a:cs typeface="Calibri"/>
              <a:sym typeface="Calibri"/>
            </a:endParaRPr>
          </a:p>
          <a:p>
            <a:pPr indent="0" lvl="0" marL="0" marR="0" rtl="0" algn="l">
              <a:lnSpc>
                <a:spcPct val="100000"/>
              </a:lnSpc>
              <a:spcBef>
                <a:spcPts val="641"/>
              </a:spcBef>
              <a:spcAft>
                <a:spcPts val="0"/>
              </a:spcAft>
              <a:buClr>
                <a:srgbClr val="000000"/>
              </a:buClr>
              <a:buSzPct val="100000"/>
              <a:buFont typeface="Arial"/>
              <a:buNone/>
            </a:pPr>
            <a:r>
              <a:rPr b="0" i="0" lang="en-US" sz="2500" u="none" cap="none" strike="noStrike">
                <a:solidFill>
                  <a:srgbClr val="000000"/>
                </a:solidFill>
                <a:latin typeface="Calibri"/>
                <a:ea typeface="Calibri"/>
                <a:cs typeface="Calibri"/>
                <a:sym typeface="Calibri"/>
              </a:rPr>
              <a:t>char chars[] = { 'a', 'b', 'c'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41"/>
              </a:spcBef>
              <a:spcAft>
                <a:spcPts val="0"/>
              </a:spcAft>
              <a:buClr>
                <a:srgbClr val="000000"/>
              </a:buClr>
              <a:buSzPct val="100000"/>
              <a:buFont typeface="Arial"/>
              <a:buNone/>
            </a:pPr>
            <a:r>
              <a:rPr b="0" i="0" lang="en-US" sz="2500" u="none" cap="none" strike="noStrike">
                <a:solidFill>
                  <a:srgbClr val="000000"/>
                </a:solidFill>
                <a:latin typeface="Calibri"/>
                <a:ea typeface="Calibri"/>
                <a:cs typeface="Calibri"/>
                <a:sym typeface="Calibri"/>
              </a:rPr>
              <a:t>String s = new String(chars);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41"/>
              </a:spcBef>
              <a:spcAft>
                <a:spcPts val="0"/>
              </a:spcAft>
              <a:buClr>
                <a:srgbClr val="000000"/>
              </a:buClr>
              <a:buSzPct val="100000"/>
              <a:buFont typeface="Arial"/>
              <a:buNone/>
            </a:pPr>
            <a:r>
              <a:rPr b="0" i="0" lang="en-US" sz="2500" u="none" cap="none" strike="noStrike">
                <a:solidFill>
                  <a:srgbClr val="000000"/>
                </a:solidFill>
                <a:latin typeface="Calibri"/>
                <a:ea typeface="Calibri"/>
                <a:cs typeface="Calibri"/>
                <a:sym typeface="Calibri"/>
              </a:rPr>
              <a:t>System.out.println(s.length());</a:t>
            </a:r>
            <a:endParaRPr b="0" i="0" sz="3200" u="none" cap="none" strike="noStrike">
              <a:solidFill>
                <a:srgbClr val="000000"/>
              </a:solidFill>
              <a:latin typeface="Calibri"/>
              <a:ea typeface="Calibri"/>
              <a:cs typeface="Calibri"/>
              <a:sym typeface="Calibri"/>
            </a:endParaRPr>
          </a:p>
        </p:txBody>
      </p:sp>
      <p:sp>
        <p:nvSpPr>
          <p:cNvPr id="251" name="Google Shape;251;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Sindhu K, Dept. of ISE</a:t>
            </a:r>
            <a:endParaRPr/>
          </a:p>
        </p:txBody>
      </p:sp>
      <p:sp>
        <p:nvSpPr>
          <p:cNvPr id="252" name="Google Shape;252;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16"/>
          <p:cNvSpPr txBox="1"/>
          <p:nvPr/>
        </p:nvSpPr>
        <p:spPr>
          <a:xfrm>
            <a:off x="634481" y="274680"/>
            <a:ext cx="10655559" cy="518422"/>
          </a:xfrm>
          <a:prstGeom prst="rect">
            <a:avLst/>
          </a:prstGeom>
          <a:noFill/>
          <a:ln>
            <a:noFill/>
          </a:ln>
        </p:spPr>
        <p:txBody>
          <a:bodyPr anchorCtr="0" anchor="ctr" bIns="45700" lIns="91425" spcFirstLastPara="1" rIns="91425" wrap="square" tIns="45700">
            <a:normAutofit fontScale="75000" lnSpcReduction="20000"/>
          </a:bodyPr>
          <a:lstStyle/>
          <a:p>
            <a:pPr indent="0" lvl="0" marL="0" marR="0" rtl="0" algn="ctr">
              <a:lnSpc>
                <a:spcPct val="100000"/>
              </a:lnSpc>
              <a:spcBef>
                <a:spcPts val="0"/>
              </a:spcBef>
              <a:spcAft>
                <a:spcPts val="0"/>
              </a:spcAft>
              <a:buClr>
                <a:srgbClr val="000000"/>
              </a:buClr>
              <a:buSzPct val="100000"/>
              <a:buFont typeface="Arial"/>
              <a:buNone/>
            </a:pPr>
            <a:r>
              <a:rPr b="1" i="0" lang="en-US" sz="4400" u="none" cap="none" strike="noStrike">
                <a:solidFill>
                  <a:srgbClr val="000000"/>
                </a:solidFill>
                <a:latin typeface="Calibri"/>
                <a:ea typeface="Calibri"/>
                <a:cs typeface="Calibri"/>
                <a:sym typeface="Calibri"/>
              </a:rPr>
              <a:t>String Handling</a:t>
            </a:r>
            <a:endParaRPr b="0" i="0" sz="4400" u="none" cap="none" strike="noStrike">
              <a:solidFill>
                <a:srgbClr val="000000"/>
              </a:solidFill>
              <a:latin typeface="Calibri"/>
              <a:ea typeface="Calibri"/>
              <a:cs typeface="Calibri"/>
              <a:sym typeface="Calibri"/>
            </a:endParaRPr>
          </a:p>
        </p:txBody>
      </p:sp>
      <p:sp>
        <p:nvSpPr>
          <p:cNvPr id="258" name="Google Shape;258;p16"/>
          <p:cNvSpPr txBox="1"/>
          <p:nvPr/>
        </p:nvSpPr>
        <p:spPr>
          <a:xfrm>
            <a:off x="811762" y="793102"/>
            <a:ext cx="10506269" cy="5835938"/>
          </a:xfrm>
          <a:prstGeom prst="rect">
            <a:avLst/>
          </a:prstGeom>
          <a:noFill/>
          <a:ln>
            <a:noFill/>
          </a:ln>
        </p:spPr>
        <p:txBody>
          <a:bodyPr anchorCtr="0" anchor="t" bIns="45700" lIns="91425" spcFirstLastPara="1" rIns="91425" wrap="square" tIns="45700">
            <a:normAutofit fontScale="94500"/>
          </a:bodyPr>
          <a:lstStyle/>
          <a:p>
            <a:pPr indent="0" lvl="0" marL="0" marR="0" rtl="0" algn="l">
              <a:lnSpc>
                <a:spcPct val="100000"/>
              </a:lnSpc>
              <a:spcBef>
                <a:spcPts val="0"/>
              </a:spcBef>
              <a:spcAft>
                <a:spcPts val="0"/>
              </a:spcAft>
              <a:buClr>
                <a:srgbClr val="000000"/>
              </a:buClr>
              <a:buSzPct val="100000"/>
              <a:buFont typeface="Arial"/>
              <a:buNone/>
            </a:pPr>
            <a:r>
              <a:rPr b="0" i="0" lang="en-US" sz="3200" u="none" cap="none" strike="noStrike">
                <a:solidFill>
                  <a:srgbClr val="000000"/>
                </a:solidFill>
                <a:latin typeface="Calibri"/>
                <a:ea typeface="Calibri"/>
                <a:cs typeface="Calibri"/>
                <a:sym typeface="Calibri"/>
              </a:rPr>
              <a:t>char chars[] = { 'a', 'b', 'c'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41"/>
              </a:spcBef>
              <a:spcAft>
                <a:spcPts val="0"/>
              </a:spcAft>
              <a:buClr>
                <a:srgbClr val="000000"/>
              </a:buClr>
              <a:buSzPct val="100000"/>
              <a:buFont typeface="Arial"/>
              <a:buNone/>
            </a:pPr>
            <a:r>
              <a:rPr b="0" i="0" lang="en-US" sz="3200" u="none" cap="none" strike="noStrike">
                <a:solidFill>
                  <a:srgbClr val="000000"/>
                </a:solidFill>
                <a:latin typeface="Calibri"/>
                <a:ea typeface="Calibri"/>
                <a:cs typeface="Calibri"/>
                <a:sym typeface="Calibri"/>
              </a:rPr>
              <a:t>String s1 = new String(chars);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41"/>
              </a:spcBef>
              <a:spcAft>
                <a:spcPts val="0"/>
              </a:spcAft>
              <a:buClr>
                <a:srgbClr val="000000"/>
              </a:buClr>
              <a:buSzPct val="100000"/>
              <a:buFont typeface="Arial"/>
              <a:buNone/>
            </a:pPr>
            <a:r>
              <a:rPr b="0" i="0" lang="en-US" sz="3200" u="none" cap="none" strike="noStrike">
                <a:solidFill>
                  <a:srgbClr val="000000"/>
                </a:solidFill>
                <a:latin typeface="Calibri"/>
                <a:ea typeface="Calibri"/>
                <a:cs typeface="Calibri"/>
                <a:sym typeface="Calibri"/>
              </a:rPr>
              <a:t>String s2 = "abc"; // use string literal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41"/>
              </a:spcBef>
              <a:spcAft>
                <a:spcPts val="0"/>
              </a:spcAft>
              <a:buClr>
                <a:srgbClr val="000000"/>
              </a:buClr>
              <a:buSzPct val="100000"/>
              <a:buFont typeface="Arial"/>
              <a:buNone/>
            </a:pPr>
            <a:r>
              <a:rPr b="0" i="0" lang="en-US" sz="3200" u="none" cap="none" strike="noStrike">
                <a:solidFill>
                  <a:srgbClr val="000000"/>
                </a:solidFill>
                <a:latin typeface="Calibri"/>
                <a:ea typeface="Calibri"/>
                <a:cs typeface="Calibri"/>
                <a:sym typeface="Calibri"/>
              </a:rPr>
              <a:t>Because a String object is created for every string literal, you can use a string literal any place you can use a String object. For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41"/>
              </a:spcBef>
              <a:spcAft>
                <a:spcPts val="0"/>
              </a:spcAft>
              <a:buClr>
                <a:srgbClr val="000000"/>
              </a:buClr>
              <a:buSzPct val="100000"/>
              <a:buFont typeface="Arial"/>
              <a:buNone/>
            </a:pPr>
            <a:r>
              <a:rPr b="0" i="0" lang="en-US" sz="3200" u="none" cap="none" strike="noStrike">
                <a:solidFill>
                  <a:srgbClr val="000000"/>
                </a:solidFill>
                <a:latin typeface="Calibri"/>
                <a:ea typeface="Calibri"/>
                <a:cs typeface="Calibri"/>
                <a:sym typeface="Calibri"/>
              </a:rPr>
              <a:t>System.out.println("abc".length());</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41"/>
              </a:spcBef>
              <a:spcAft>
                <a:spcPts val="0"/>
              </a:spcAft>
              <a:buClr>
                <a:srgbClr val="000000"/>
              </a:buClr>
              <a:buSzPct val="100000"/>
              <a:buFont typeface="Arial"/>
              <a:buNone/>
            </a:pPr>
            <a:r>
              <a:t/>
            </a:r>
            <a:endParaRPr b="0" i="0" sz="3200" u="none" cap="none" strike="noStrike">
              <a:solidFill>
                <a:srgbClr val="000000"/>
              </a:solidFill>
              <a:latin typeface="Calibri"/>
              <a:ea typeface="Calibri"/>
              <a:cs typeface="Calibri"/>
              <a:sym typeface="Calibri"/>
            </a:endParaRPr>
          </a:p>
        </p:txBody>
      </p:sp>
      <p:sp>
        <p:nvSpPr>
          <p:cNvPr id="259" name="Google Shape;259;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Sindhu K, Dept. of ISE</a:t>
            </a:r>
            <a:endParaRPr/>
          </a:p>
        </p:txBody>
      </p:sp>
      <p:sp>
        <p:nvSpPr>
          <p:cNvPr id="260" name="Google Shape;260;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17"/>
          <p:cNvSpPr txBox="1"/>
          <p:nvPr/>
        </p:nvSpPr>
        <p:spPr>
          <a:xfrm>
            <a:off x="634481" y="274680"/>
            <a:ext cx="10655559" cy="518422"/>
          </a:xfrm>
          <a:prstGeom prst="rect">
            <a:avLst/>
          </a:prstGeom>
          <a:noFill/>
          <a:ln>
            <a:noFill/>
          </a:ln>
        </p:spPr>
        <p:txBody>
          <a:bodyPr anchorCtr="0" anchor="ctr" bIns="45700" lIns="91425" spcFirstLastPara="1" rIns="91425" wrap="square" tIns="45700">
            <a:normAutofit fontScale="75000" lnSpcReduction="20000"/>
          </a:bodyPr>
          <a:lstStyle/>
          <a:p>
            <a:pPr indent="0" lvl="0" marL="0" marR="0" rtl="0" algn="ctr">
              <a:lnSpc>
                <a:spcPct val="100000"/>
              </a:lnSpc>
              <a:spcBef>
                <a:spcPts val="0"/>
              </a:spcBef>
              <a:spcAft>
                <a:spcPts val="0"/>
              </a:spcAft>
              <a:buClr>
                <a:srgbClr val="000000"/>
              </a:buClr>
              <a:buSzPct val="100000"/>
              <a:buFont typeface="Arial"/>
              <a:buNone/>
            </a:pPr>
            <a:r>
              <a:rPr b="1" i="0" lang="en-US" sz="4400" u="none" cap="none" strike="noStrike">
                <a:solidFill>
                  <a:srgbClr val="000000"/>
                </a:solidFill>
                <a:latin typeface="Calibri"/>
                <a:ea typeface="Calibri"/>
                <a:cs typeface="Calibri"/>
                <a:sym typeface="Calibri"/>
              </a:rPr>
              <a:t>String Handling</a:t>
            </a:r>
            <a:endParaRPr b="0" i="0" sz="4400" u="none" cap="none" strike="noStrike">
              <a:solidFill>
                <a:srgbClr val="000000"/>
              </a:solidFill>
              <a:latin typeface="Calibri"/>
              <a:ea typeface="Calibri"/>
              <a:cs typeface="Calibri"/>
              <a:sym typeface="Calibri"/>
            </a:endParaRPr>
          </a:p>
        </p:txBody>
      </p:sp>
      <p:sp>
        <p:nvSpPr>
          <p:cNvPr id="266" name="Google Shape;266;p17"/>
          <p:cNvSpPr txBox="1"/>
          <p:nvPr/>
        </p:nvSpPr>
        <p:spPr>
          <a:xfrm>
            <a:off x="811762" y="793102"/>
            <a:ext cx="10506269" cy="5835938"/>
          </a:xfrm>
          <a:prstGeom prst="rect">
            <a:avLst/>
          </a:prstGeom>
          <a:noFill/>
          <a:ln>
            <a:noFill/>
          </a:ln>
        </p:spPr>
        <p:txBody>
          <a:bodyPr anchorCtr="0" anchor="t" bIns="45700" lIns="91425" spcFirstLastPara="1" rIns="91425" wrap="square" tIns="45700">
            <a:normAutofit fontScale="94500"/>
          </a:bodyPr>
          <a:lstStyle/>
          <a:p>
            <a:pPr indent="0" lvl="0" marL="0" marR="0" rtl="0" algn="l">
              <a:lnSpc>
                <a:spcPct val="100000"/>
              </a:lnSpc>
              <a:spcBef>
                <a:spcPts val="0"/>
              </a:spcBef>
              <a:spcAft>
                <a:spcPts val="0"/>
              </a:spcAft>
              <a:buClr>
                <a:srgbClr val="000000"/>
              </a:buClr>
              <a:buSzPct val="100000"/>
              <a:buFont typeface="Arial"/>
              <a:buNone/>
            </a:pPr>
            <a:r>
              <a:rPr b="1" i="0" lang="en-US" sz="3400" u="none" cap="none" strike="noStrike">
                <a:solidFill>
                  <a:srgbClr val="000000"/>
                </a:solidFill>
                <a:latin typeface="Calibri"/>
                <a:ea typeface="Calibri"/>
                <a:cs typeface="Calibri"/>
                <a:sym typeface="Calibri"/>
              </a:rPr>
              <a:t>String Concatenation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41"/>
              </a:spcBef>
              <a:spcAft>
                <a:spcPts val="0"/>
              </a:spcAft>
              <a:buClr>
                <a:srgbClr val="000000"/>
              </a:buClr>
              <a:buSzPct val="100000"/>
              <a:buFont typeface="Arial"/>
              <a:buNone/>
            </a:pPr>
            <a:r>
              <a:rPr b="0" i="0" lang="en-US" sz="3200" u="none" cap="none" strike="noStrike">
                <a:solidFill>
                  <a:srgbClr val="000000"/>
                </a:solidFill>
                <a:latin typeface="Calibri"/>
                <a:ea typeface="Calibri"/>
                <a:cs typeface="Calibri"/>
                <a:sym typeface="Calibri"/>
              </a:rPr>
              <a:t>The following fragment</a:t>
            </a:r>
            <a:r>
              <a:rPr b="1" i="0" lang="en-US" sz="3200" u="none" cap="none" strike="noStrike">
                <a:solidFill>
                  <a:srgbClr val="000000"/>
                </a:solidFill>
                <a:latin typeface="Calibri"/>
                <a:ea typeface="Calibri"/>
                <a:cs typeface="Calibri"/>
                <a:sym typeface="Calibri"/>
              </a:rPr>
              <a:t> concatenates three strings: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41"/>
              </a:spcBef>
              <a:spcAft>
                <a:spcPts val="0"/>
              </a:spcAft>
              <a:buClr>
                <a:srgbClr val="000000"/>
              </a:buClr>
              <a:buSzPct val="100000"/>
              <a:buFont typeface="Arial"/>
              <a:buNone/>
            </a:pPr>
            <a:r>
              <a:rPr b="0" i="0" lang="en-US" sz="3200" u="none" cap="none" strike="noStrike">
                <a:solidFill>
                  <a:srgbClr val="000000"/>
                </a:solidFill>
                <a:latin typeface="Calibri"/>
                <a:ea typeface="Calibri"/>
                <a:cs typeface="Calibri"/>
                <a:sym typeface="Calibri"/>
              </a:rPr>
              <a:t>String age = "9";</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41"/>
              </a:spcBef>
              <a:spcAft>
                <a:spcPts val="0"/>
              </a:spcAft>
              <a:buClr>
                <a:srgbClr val="000000"/>
              </a:buClr>
              <a:buSzPct val="100000"/>
              <a:buFont typeface="Arial"/>
              <a:buNone/>
            </a:pPr>
            <a:r>
              <a:rPr b="0" i="0" lang="en-US" sz="3200" u="none" cap="none" strike="noStrike">
                <a:solidFill>
                  <a:srgbClr val="000000"/>
                </a:solidFill>
                <a:latin typeface="Calibri"/>
                <a:ea typeface="Calibri"/>
                <a:cs typeface="Calibri"/>
                <a:sym typeface="Calibri"/>
              </a:rPr>
              <a:t>String s = "He is " + age + " years old.";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41"/>
              </a:spcBef>
              <a:spcAft>
                <a:spcPts val="0"/>
              </a:spcAft>
              <a:buClr>
                <a:srgbClr val="000000"/>
              </a:buClr>
              <a:buSzPct val="100000"/>
              <a:buFont typeface="Arial"/>
              <a:buNone/>
            </a:pPr>
            <a:r>
              <a:rPr b="0" i="0" lang="en-US" sz="3200" u="none" cap="none" strike="noStrike">
                <a:solidFill>
                  <a:srgbClr val="000000"/>
                </a:solidFill>
                <a:latin typeface="Calibri"/>
                <a:ea typeface="Calibri"/>
                <a:cs typeface="Calibri"/>
                <a:sym typeface="Calibri"/>
              </a:rPr>
              <a:t>System.out.println(s);  //This displays the string “He is 9 years old.”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41"/>
              </a:spcBef>
              <a:spcAft>
                <a:spcPts val="0"/>
              </a:spcAft>
              <a:buClr>
                <a:srgbClr val="000000"/>
              </a:buClr>
              <a:buSzPct val="100000"/>
              <a:buFont typeface="Arial"/>
              <a:buNone/>
            </a:pPr>
            <a:r>
              <a:t/>
            </a:r>
            <a:endParaRPr b="0" i="0" sz="3200" u="none" cap="none" strike="noStrike">
              <a:solidFill>
                <a:srgbClr val="000000"/>
              </a:solidFill>
              <a:latin typeface="Calibri"/>
              <a:ea typeface="Calibri"/>
              <a:cs typeface="Calibri"/>
              <a:sym typeface="Calibri"/>
            </a:endParaRPr>
          </a:p>
        </p:txBody>
      </p:sp>
      <p:sp>
        <p:nvSpPr>
          <p:cNvPr id="267" name="Google Shape;267;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Sindhu K, Dept. of ISE</a:t>
            </a:r>
            <a:endParaRPr/>
          </a:p>
        </p:txBody>
      </p:sp>
      <p:sp>
        <p:nvSpPr>
          <p:cNvPr id="268" name="Google Shape;268;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18"/>
          <p:cNvSpPr txBox="1"/>
          <p:nvPr/>
        </p:nvSpPr>
        <p:spPr>
          <a:xfrm>
            <a:off x="634481" y="274680"/>
            <a:ext cx="10655559" cy="518422"/>
          </a:xfrm>
          <a:prstGeom prst="rect">
            <a:avLst/>
          </a:prstGeom>
          <a:noFill/>
          <a:ln>
            <a:noFill/>
          </a:ln>
        </p:spPr>
        <p:txBody>
          <a:bodyPr anchorCtr="0" anchor="ctr" bIns="45700" lIns="91425" spcFirstLastPara="1" rIns="91425" wrap="square" tIns="45700">
            <a:normAutofit fontScale="75000" lnSpcReduction="20000"/>
          </a:bodyPr>
          <a:lstStyle/>
          <a:p>
            <a:pPr indent="0" lvl="0" marL="0" marR="0" rtl="0" algn="ctr">
              <a:lnSpc>
                <a:spcPct val="100000"/>
              </a:lnSpc>
              <a:spcBef>
                <a:spcPts val="0"/>
              </a:spcBef>
              <a:spcAft>
                <a:spcPts val="0"/>
              </a:spcAft>
              <a:buClr>
                <a:srgbClr val="000000"/>
              </a:buClr>
              <a:buSzPct val="100000"/>
              <a:buFont typeface="Arial"/>
              <a:buNone/>
            </a:pPr>
            <a:r>
              <a:rPr b="1" i="0" lang="en-US" sz="4400" u="none" cap="none" strike="noStrike">
                <a:solidFill>
                  <a:srgbClr val="000000"/>
                </a:solidFill>
                <a:latin typeface="Calibri"/>
                <a:ea typeface="Calibri"/>
                <a:cs typeface="Calibri"/>
                <a:sym typeface="Calibri"/>
              </a:rPr>
              <a:t>String Handling</a:t>
            </a:r>
            <a:endParaRPr b="0" i="0" sz="4400" u="none" cap="none" strike="noStrike">
              <a:solidFill>
                <a:srgbClr val="000000"/>
              </a:solidFill>
              <a:latin typeface="Calibri"/>
              <a:ea typeface="Calibri"/>
              <a:cs typeface="Calibri"/>
              <a:sym typeface="Calibri"/>
            </a:endParaRPr>
          </a:p>
        </p:txBody>
      </p:sp>
      <p:sp>
        <p:nvSpPr>
          <p:cNvPr id="274" name="Google Shape;274;p18"/>
          <p:cNvSpPr txBox="1"/>
          <p:nvPr/>
        </p:nvSpPr>
        <p:spPr>
          <a:xfrm>
            <a:off x="811762" y="793102"/>
            <a:ext cx="10506269" cy="5835938"/>
          </a:xfrm>
          <a:prstGeom prst="rect">
            <a:avLst/>
          </a:prstGeom>
          <a:noFill/>
          <a:ln>
            <a:noFill/>
          </a:ln>
        </p:spPr>
        <p:txBody>
          <a:bodyPr anchorCtr="0" anchor="t" bIns="45700" lIns="91425" spcFirstLastPara="1" rIns="91425" wrap="square" tIns="45700">
            <a:normAutofit fontScale="94500" lnSpcReduction="10000"/>
          </a:bodyPr>
          <a:lstStyle/>
          <a:p>
            <a:pPr indent="0" lvl="0" marL="0" marR="0" rtl="0" algn="l">
              <a:lnSpc>
                <a:spcPct val="100000"/>
              </a:lnSpc>
              <a:spcBef>
                <a:spcPts val="0"/>
              </a:spcBef>
              <a:spcAft>
                <a:spcPts val="0"/>
              </a:spcAft>
              <a:buClr>
                <a:srgbClr val="000000"/>
              </a:buClr>
              <a:buSzPct val="100000"/>
              <a:buFont typeface="Arial"/>
              <a:buNone/>
            </a:pPr>
            <a:r>
              <a:rPr b="1" i="0" lang="en-US" sz="3400" u="none" cap="none" strike="noStrike">
                <a:solidFill>
                  <a:srgbClr val="000000"/>
                </a:solidFill>
                <a:latin typeface="Calibri"/>
                <a:ea typeface="Calibri"/>
                <a:cs typeface="Calibri"/>
                <a:sym typeface="Calibri"/>
              </a:rPr>
              <a:t>String Concatenation with Other Data Types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41"/>
              </a:spcBef>
              <a:spcAft>
                <a:spcPts val="0"/>
              </a:spcAft>
              <a:buClr>
                <a:srgbClr val="000000"/>
              </a:buClr>
              <a:buSzPct val="100000"/>
              <a:buFont typeface="Arial"/>
              <a:buNone/>
            </a:pPr>
            <a:r>
              <a:rPr b="1" i="0" lang="en-US" sz="3400" u="none" cap="none" strike="noStrike">
                <a:solidFill>
                  <a:srgbClr val="000000"/>
                </a:solidFill>
                <a:latin typeface="Calibri"/>
                <a:ea typeface="Calibri"/>
                <a:cs typeface="Calibri"/>
                <a:sym typeface="Calibri"/>
              </a:rPr>
              <a:t>You can concatenate strings with other types of data. </a:t>
            </a:r>
            <a:r>
              <a:rPr b="0" i="0" lang="en-US" sz="3200" u="none" cap="none" strike="noStrike">
                <a:solidFill>
                  <a:srgbClr val="000000"/>
                </a:solidFill>
                <a:latin typeface="Calibri"/>
                <a:ea typeface="Calibri"/>
                <a:cs typeface="Calibri"/>
                <a:sym typeface="Calibri"/>
              </a:rPr>
              <a:t>Consider the following: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41"/>
              </a:spcBef>
              <a:spcAft>
                <a:spcPts val="0"/>
              </a:spcAft>
              <a:buClr>
                <a:srgbClr val="000000"/>
              </a:buClr>
              <a:buSzPct val="100000"/>
              <a:buFont typeface="Arial"/>
              <a:buNone/>
            </a:pPr>
            <a:r>
              <a:rPr b="0" i="0" lang="en-US" sz="3200" u="none" cap="none" strike="noStrike">
                <a:solidFill>
                  <a:srgbClr val="000000"/>
                </a:solidFill>
                <a:latin typeface="Calibri"/>
                <a:ea typeface="Calibri"/>
                <a:cs typeface="Calibri"/>
                <a:sym typeface="Calibri"/>
              </a:rPr>
              <a:t>String s = "four: " + 2 + 2;</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41"/>
              </a:spcBef>
              <a:spcAft>
                <a:spcPts val="0"/>
              </a:spcAft>
              <a:buClr>
                <a:srgbClr val="000000"/>
              </a:buClr>
              <a:buSzPct val="100000"/>
              <a:buFont typeface="Arial"/>
              <a:buNone/>
            </a:pPr>
            <a:r>
              <a:rPr b="0" i="0" lang="en-US" sz="3200" u="none" cap="none" strike="noStrike">
                <a:solidFill>
                  <a:srgbClr val="000000"/>
                </a:solidFill>
                <a:latin typeface="Calibri"/>
                <a:ea typeface="Calibri"/>
                <a:cs typeface="Calibri"/>
                <a:sym typeface="Calibri"/>
              </a:rPr>
              <a:t>System.out.println(s);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41"/>
              </a:spcBef>
              <a:spcAft>
                <a:spcPts val="0"/>
              </a:spcAft>
              <a:buClr>
                <a:srgbClr val="000000"/>
              </a:buClr>
              <a:buSzPct val="100000"/>
              <a:buFont typeface="Arial"/>
              <a:buNone/>
            </a:pPr>
            <a:r>
              <a:rPr b="0" i="0" lang="en-US" sz="3200" u="none" cap="none" strike="noStrike">
                <a:solidFill>
                  <a:srgbClr val="000000"/>
                </a:solidFill>
                <a:latin typeface="Calibri"/>
                <a:ea typeface="Calibri"/>
                <a:cs typeface="Calibri"/>
                <a:sym typeface="Calibri"/>
              </a:rPr>
              <a:t>This fragment displays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41"/>
              </a:spcBef>
              <a:spcAft>
                <a:spcPts val="0"/>
              </a:spcAft>
              <a:buClr>
                <a:srgbClr val="000000"/>
              </a:buClr>
              <a:buSzPct val="100000"/>
              <a:buFont typeface="Arial"/>
              <a:buNone/>
            </a:pPr>
            <a:r>
              <a:rPr b="0" i="0" lang="en-US" sz="3200" u="none" cap="none" strike="noStrike">
                <a:solidFill>
                  <a:srgbClr val="000000"/>
                </a:solidFill>
                <a:latin typeface="Calibri"/>
                <a:ea typeface="Calibri"/>
                <a:cs typeface="Calibri"/>
                <a:sym typeface="Calibri"/>
              </a:rPr>
              <a:t>four: 22</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41"/>
              </a:spcBef>
              <a:spcAft>
                <a:spcPts val="0"/>
              </a:spcAft>
              <a:buClr>
                <a:srgbClr val="000000"/>
              </a:buClr>
              <a:buSzPct val="100000"/>
              <a:buFont typeface="Arial"/>
              <a:buNone/>
            </a:pPr>
            <a:r>
              <a:rPr b="0" i="0" lang="en-US" sz="3200" u="none" cap="none" strike="noStrike">
                <a:solidFill>
                  <a:srgbClr val="000000"/>
                </a:solidFill>
                <a:latin typeface="Calibri"/>
                <a:ea typeface="Calibri"/>
                <a:cs typeface="Calibri"/>
                <a:sym typeface="Calibri"/>
              </a:rPr>
              <a:t>rather than the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41"/>
              </a:spcBef>
              <a:spcAft>
                <a:spcPts val="0"/>
              </a:spcAft>
              <a:buClr>
                <a:srgbClr val="000000"/>
              </a:buClr>
              <a:buSzPct val="100000"/>
              <a:buFont typeface="Arial"/>
              <a:buNone/>
            </a:pPr>
            <a:r>
              <a:rPr b="0" i="0" lang="en-US" sz="3200" u="none" cap="none" strike="noStrike">
                <a:solidFill>
                  <a:srgbClr val="000000"/>
                </a:solidFill>
                <a:latin typeface="Calibri"/>
                <a:ea typeface="Calibri"/>
                <a:cs typeface="Calibri"/>
                <a:sym typeface="Calibri"/>
              </a:rPr>
              <a:t>four: 4</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41"/>
              </a:spcBef>
              <a:spcAft>
                <a:spcPts val="0"/>
              </a:spcAft>
              <a:buClr>
                <a:srgbClr val="000000"/>
              </a:buClr>
              <a:buSzPct val="100000"/>
              <a:buFont typeface="Arial"/>
              <a:buNone/>
            </a:pPr>
            <a:r>
              <a:rPr b="0" i="0" lang="en-US" sz="3200" u="none" cap="none" strike="noStrike">
                <a:solidFill>
                  <a:srgbClr val="000000"/>
                </a:solidFill>
                <a:latin typeface="Calibri"/>
                <a:ea typeface="Calibri"/>
                <a:cs typeface="Calibri"/>
                <a:sym typeface="Calibri"/>
              </a:rPr>
              <a:t>String s = "four: " + (2 + 2);</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41"/>
              </a:spcBef>
              <a:spcAft>
                <a:spcPts val="0"/>
              </a:spcAft>
              <a:buClr>
                <a:srgbClr val="000000"/>
              </a:buClr>
              <a:buSzPct val="100000"/>
              <a:buFont typeface="Arial"/>
              <a:buNone/>
            </a:pPr>
            <a:r>
              <a:rPr b="0" i="0" lang="en-US" sz="3200" u="none" cap="none" strike="noStrike">
                <a:solidFill>
                  <a:srgbClr val="000000"/>
                </a:solidFill>
                <a:latin typeface="Calibri"/>
                <a:ea typeface="Calibri"/>
                <a:cs typeface="Calibri"/>
                <a:sym typeface="Calibri"/>
              </a:rPr>
              <a:t>Now s contains the string “four: 4”.</a:t>
            </a:r>
            <a:endParaRPr b="0" i="0" sz="1400" u="none" cap="none" strike="noStrike">
              <a:solidFill>
                <a:srgbClr val="000000"/>
              </a:solidFill>
              <a:latin typeface="Arial"/>
              <a:ea typeface="Arial"/>
              <a:cs typeface="Arial"/>
              <a:sym typeface="Arial"/>
            </a:endParaRPr>
          </a:p>
        </p:txBody>
      </p:sp>
      <p:sp>
        <p:nvSpPr>
          <p:cNvPr id="275" name="Google Shape;275;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Sindhu K, Dept. of ISE</a:t>
            </a:r>
            <a:endParaRPr/>
          </a:p>
        </p:txBody>
      </p:sp>
      <p:sp>
        <p:nvSpPr>
          <p:cNvPr id="276" name="Google Shape;276;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19"/>
          <p:cNvSpPr txBox="1"/>
          <p:nvPr/>
        </p:nvSpPr>
        <p:spPr>
          <a:xfrm>
            <a:off x="634481" y="274680"/>
            <a:ext cx="10655559" cy="518422"/>
          </a:xfrm>
          <a:prstGeom prst="rect">
            <a:avLst/>
          </a:prstGeom>
          <a:noFill/>
          <a:ln>
            <a:noFill/>
          </a:ln>
        </p:spPr>
        <p:txBody>
          <a:bodyPr anchorCtr="0" anchor="ctr" bIns="45700" lIns="91425" spcFirstLastPara="1" rIns="91425" wrap="square" tIns="45700">
            <a:normAutofit fontScale="75000" lnSpcReduction="20000"/>
          </a:bodyPr>
          <a:lstStyle/>
          <a:p>
            <a:pPr indent="0" lvl="0" marL="0" marR="0" rtl="0" algn="ctr">
              <a:lnSpc>
                <a:spcPct val="100000"/>
              </a:lnSpc>
              <a:spcBef>
                <a:spcPts val="0"/>
              </a:spcBef>
              <a:spcAft>
                <a:spcPts val="0"/>
              </a:spcAft>
              <a:buClr>
                <a:srgbClr val="000000"/>
              </a:buClr>
              <a:buSzPct val="100000"/>
              <a:buFont typeface="Arial"/>
              <a:buNone/>
            </a:pPr>
            <a:r>
              <a:rPr b="1" i="0" lang="en-US" sz="4400" u="none" cap="none" strike="noStrike">
                <a:solidFill>
                  <a:srgbClr val="000000"/>
                </a:solidFill>
                <a:latin typeface="Calibri"/>
                <a:ea typeface="Calibri"/>
                <a:cs typeface="Calibri"/>
                <a:sym typeface="Calibri"/>
              </a:rPr>
              <a:t>String Handling</a:t>
            </a:r>
            <a:endParaRPr b="0" i="0" sz="4400" u="none" cap="none" strike="noStrike">
              <a:solidFill>
                <a:srgbClr val="000000"/>
              </a:solidFill>
              <a:latin typeface="Calibri"/>
              <a:ea typeface="Calibri"/>
              <a:cs typeface="Calibri"/>
              <a:sym typeface="Calibri"/>
            </a:endParaRPr>
          </a:p>
        </p:txBody>
      </p:sp>
      <p:sp>
        <p:nvSpPr>
          <p:cNvPr id="282" name="Google Shape;282;p19"/>
          <p:cNvSpPr txBox="1"/>
          <p:nvPr/>
        </p:nvSpPr>
        <p:spPr>
          <a:xfrm>
            <a:off x="811762" y="793102"/>
            <a:ext cx="10506269" cy="5835938"/>
          </a:xfrm>
          <a:prstGeom prst="rect">
            <a:avLst/>
          </a:prstGeom>
          <a:noFill/>
          <a:ln>
            <a:noFill/>
          </a:ln>
        </p:spPr>
        <p:txBody>
          <a:bodyPr anchorCtr="0" anchor="t" bIns="45700" lIns="91425" spcFirstLastPara="1" rIns="91425" wrap="square" tIns="45700">
            <a:normAutofit fontScale="79500" lnSpcReduction="20000"/>
          </a:bodyPr>
          <a:lstStyle/>
          <a:p>
            <a:pPr indent="0" lvl="0" marL="0" marR="0" rtl="0" algn="l">
              <a:lnSpc>
                <a:spcPct val="100000"/>
              </a:lnSpc>
              <a:spcBef>
                <a:spcPts val="0"/>
              </a:spcBef>
              <a:spcAft>
                <a:spcPts val="0"/>
              </a:spcAft>
              <a:buClr>
                <a:srgbClr val="000000"/>
              </a:buClr>
              <a:buSzPct val="100000"/>
              <a:buFont typeface="Arial"/>
              <a:buNone/>
            </a:pPr>
            <a:r>
              <a:rPr b="0" i="0" lang="en-US" sz="3200" u="none" cap="none" strike="noStrike">
                <a:solidFill>
                  <a:srgbClr val="000000"/>
                </a:solidFill>
                <a:latin typeface="Calibri"/>
                <a:ea typeface="Calibri"/>
                <a:cs typeface="Calibri"/>
                <a:sym typeface="Calibri"/>
              </a:rPr>
              <a:t>string concatenation forms a new string that is the combination of multiple strings. There are two ways to concat string in java: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41"/>
              </a:spcBef>
              <a:spcAft>
                <a:spcPts val="0"/>
              </a:spcAft>
              <a:buClr>
                <a:srgbClr val="000000"/>
              </a:buClr>
              <a:buSzPct val="100000"/>
              <a:buFont typeface="Arial"/>
              <a:buNone/>
            </a:pPr>
            <a:r>
              <a:t/>
            </a:r>
            <a:endParaRPr b="0" i="0" sz="3200" u="none" cap="none" strike="noStrike">
              <a:solidFill>
                <a:srgbClr val="000000"/>
              </a:solidFill>
              <a:latin typeface="Calibri"/>
              <a:ea typeface="Calibri"/>
              <a:cs typeface="Calibri"/>
              <a:sym typeface="Calibri"/>
            </a:endParaRPr>
          </a:p>
          <a:p>
            <a:pPr indent="0" lvl="0" marL="0" marR="0" rtl="0" algn="l">
              <a:lnSpc>
                <a:spcPct val="100000"/>
              </a:lnSpc>
              <a:spcBef>
                <a:spcPts val="641"/>
              </a:spcBef>
              <a:spcAft>
                <a:spcPts val="0"/>
              </a:spcAft>
              <a:buClr>
                <a:srgbClr val="000000"/>
              </a:buClr>
              <a:buSzPct val="100000"/>
              <a:buFont typeface="Arial"/>
              <a:buNone/>
            </a:pPr>
            <a:r>
              <a:rPr b="1" i="0" lang="en-US" sz="3200" u="none" cap="none" strike="noStrike">
                <a:solidFill>
                  <a:srgbClr val="000000"/>
                </a:solidFill>
                <a:latin typeface="Calibri"/>
                <a:ea typeface="Calibri"/>
                <a:cs typeface="Calibri"/>
                <a:sym typeface="Calibri"/>
              </a:rPr>
              <a:t>By + (string concatenation) operator</a:t>
            </a:r>
            <a:endParaRPr b="1" i="0" sz="1400" u="none" cap="none" strike="noStrike">
              <a:solidFill>
                <a:srgbClr val="000000"/>
              </a:solidFill>
              <a:latin typeface="Arial"/>
              <a:ea typeface="Arial"/>
              <a:cs typeface="Arial"/>
              <a:sym typeface="Arial"/>
            </a:endParaRPr>
          </a:p>
          <a:p>
            <a:pPr indent="0" lvl="0" marL="0" marR="0" rtl="0" algn="l">
              <a:lnSpc>
                <a:spcPct val="100000"/>
              </a:lnSpc>
              <a:spcBef>
                <a:spcPts val="641"/>
              </a:spcBef>
              <a:spcAft>
                <a:spcPts val="0"/>
              </a:spcAft>
              <a:buClr>
                <a:srgbClr val="000000"/>
              </a:buClr>
              <a:buSzPct val="100000"/>
              <a:buFont typeface="Arial"/>
              <a:buNone/>
            </a:pPr>
            <a:r>
              <a:rPr b="1" i="0" lang="en-US" sz="3200" u="none" cap="none" strike="noStrike">
                <a:solidFill>
                  <a:srgbClr val="000000"/>
                </a:solidFill>
                <a:latin typeface="Calibri"/>
                <a:ea typeface="Calibri"/>
                <a:cs typeface="Calibri"/>
                <a:sym typeface="Calibri"/>
              </a:rPr>
              <a:t>By concat() method</a:t>
            </a:r>
            <a:endParaRPr b="1" i="0" sz="1400" u="none" cap="none" strike="noStrike">
              <a:solidFill>
                <a:srgbClr val="000000"/>
              </a:solidFill>
              <a:latin typeface="Arial"/>
              <a:ea typeface="Arial"/>
              <a:cs typeface="Arial"/>
              <a:sym typeface="Arial"/>
            </a:endParaRPr>
          </a:p>
          <a:p>
            <a:pPr indent="0" lvl="0" marL="0" marR="0" rtl="0" algn="l">
              <a:lnSpc>
                <a:spcPct val="100000"/>
              </a:lnSpc>
              <a:spcBef>
                <a:spcPts val="641"/>
              </a:spcBef>
              <a:spcAft>
                <a:spcPts val="0"/>
              </a:spcAft>
              <a:buClr>
                <a:srgbClr val="000000"/>
              </a:buClr>
              <a:buSzPct val="100000"/>
              <a:buFont typeface="Arial"/>
              <a:buNone/>
            </a:pPr>
            <a:r>
              <a:t/>
            </a:r>
            <a:endParaRPr b="0" i="0" sz="3200" u="none" cap="none" strike="noStrike">
              <a:solidFill>
                <a:srgbClr val="000000"/>
              </a:solidFill>
              <a:latin typeface="Calibri"/>
              <a:ea typeface="Calibri"/>
              <a:cs typeface="Calibri"/>
              <a:sym typeface="Calibri"/>
            </a:endParaRPr>
          </a:p>
          <a:p>
            <a:pPr indent="0" lvl="0" marL="0" marR="0" rtl="0" algn="l">
              <a:lnSpc>
                <a:spcPct val="100000"/>
              </a:lnSpc>
              <a:spcBef>
                <a:spcPts val="641"/>
              </a:spcBef>
              <a:spcAft>
                <a:spcPts val="0"/>
              </a:spcAft>
              <a:buClr>
                <a:srgbClr val="000000"/>
              </a:buClr>
              <a:buSzPct val="100000"/>
              <a:buFont typeface="Arial"/>
              <a:buNone/>
            </a:pPr>
            <a:r>
              <a:rPr b="0" i="0" lang="en-US" sz="3200" u="none" cap="none" strike="noStrike">
                <a:solidFill>
                  <a:srgbClr val="000000"/>
                </a:solidFill>
                <a:latin typeface="Calibri"/>
                <a:ea typeface="Calibri"/>
                <a:cs typeface="Calibri"/>
                <a:sym typeface="Calibri"/>
              </a:rPr>
              <a:t>1) String Concatenation by + (string concatenation) operator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41"/>
              </a:spcBef>
              <a:spcAft>
                <a:spcPts val="0"/>
              </a:spcAft>
              <a:buClr>
                <a:srgbClr val="000000"/>
              </a:buClr>
              <a:buSzPct val="100000"/>
              <a:buFont typeface="Arial"/>
              <a:buNone/>
            </a:pPr>
            <a:r>
              <a:rPr b="0" i="0" lang="en-US" sz="3200" u="none" cap="none" strike="noStrike">
                <a:solidFill>
                  <a:srgbClr val="000000"/>
                </a:solidFill>
                <a:latin typeface="Calibri"/>
                <a:ea typeface="Calibri"/>
                <a:cs typeface="Calibri"/>
                <a:sym typeface="Calibri"/>
              </a:rPr>
              <a:t>Java string concatenation operator (+) is used to add strings. For Example: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41"/>
              </a:spcBef>
              <a:spcAft>
                <a:spcPts val="0"/>
              </a:spcAft>
              <a:buClr>
                <a:srgbClr val="000000"/>
              </a:buClr>
              <a:buSzPct val="100000"/>
              <a:buFont typeface="Arial"/>
              <a:buNone/>
            </a:pPr>
            <a:r>
              <a:t/>
            </a:r>
            <a:endParaRPr b="0" i="0" sz="3200" u="none" cap="none" strike="noStrike">
              <a:solidFill>
                <a:srgbClr val="000000"/>
              </a:solidFill>
              <a:latin typeface="Calibri"/>
              <a:ea typeface="Calibri"/>
              <a:cs typeface="Calibri"/>
              <a:sym typeface="Calibri"/>
            </a:endParaRPr>
          </a:p>
          <a:p>
            <a:pPr indent="0" lvl="0" marL="0" marR="0" rtl="0" algn="l">
              <a:lnSpc>
                <a:spcPct val="100000"/>
              </a:lnSpc>
              <a:spcBef>
                <a:spcPts val="641"/>
              </a:spcBef>
              <a:spcAft>
                <a:spcPts val="0"/>
              </a:spcAft>
              <a:buClr>
                <a:srgbClr val="000000"/>
              </a:buClr>
              <a:buSzPct val="100000"/>
              <a:buFont typeface="Arial"/>
              <a:buNone/>
            </a:pPr>
            <a:r>
              <a:rPr b="0" i="0" lang="en-US" sz="3200" u="none" cap="none" strike="noStrike">
                <a:solidFill>
                  <a:srgbClr val="000000"/>
                </a:solidFill>
                <a:latin typeface="Calibri"/>
                <a:ea typeface="Calibri"/>
                <a:cs typeface="Calibri"/>
                <a:sym typeface="Calibri"/>
              </a:rPr>
              <a:t>class TestStringConcatenation1{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41"/>
              </a:spcBef>
              <a:spcAft>
                <a:spcPts val="0"/>
              </a:spcAft>
              <a:buClr>
                <a:srgbClr val="000000"/>
              </a:buClr>
              <a:buSzPct val="100000"/>
              <a:buFont typeface="Arial"/>
              <a:buNone/>
            </a:pPr>
            <a:r>
              <a:rPr b="0" i="0" lang="en-US" sz="3200" u="none" cap="none" strike="noStrike">
                <a:solidFill>
                  <a:srgbClr val="000000"/>
                </a:solidFill>
                <a:latin typeface="Calibri"/>
                <a:ea typeface="Calibri"/>
                <a:cs typeface="Calibri"/>
                <a:sym typeface="Calibri"/>
              </a:rPr>
              <a:t> public static void main(String args[]){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41"/>
              </a:spcBef>
              <a:spcAft>
                <a:spcPts val="0"/>
              </a:spcAft>
              <a:buClr>
                <a:srgbClr val="000000"/>
              </a:buClr>
              <a:buSzPct val="100000"/>
              <a:buFont typeface="Arial"/>
              <a:buNone/>
            </a:pPr>
            <a:r>
              <a:rPr b="0" i="0" lang="en-US" sz="3200" u="none" cap="none" strike="noStrike">
                <a:solidFill>
                  <a:srgbClr val="000000"/>
                </a:solidFill>
                <a:latin typeface="Calibri"/>
                <a:ea typeface="Calibri"/>
                <a:cs typeface="Calibri"/>
                <a:sym typeface="Calibri"/>
              </a:rPr>
              <a:t>   String s="Sachin"+" Tendulkar";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41"/>
              </a:spcBef>
              <a:spcAft>
                <a:spcPts val="0"/>
              </a:spcAft>
              <a:buClr>
                <a:srgbClr val="000000"/>
              </a:buClr>
              <a:buSzPct val="100000"/>
              <a:buFont typeface="Arial"/>
              <a:buNone/>
            </a:pPr>
            <a:r>
              <a:rPr b="0" i="0" lang="en-US" sz="3200" u="none" cap="none" strike="noStrike">
                <a:solidFill>
                  <a:srgbClr val="000000"/>
                </a:solidFill>
                <a:latin typeface="Calibri"/>
                <a:ea typeface="Calibri"/>
                <a:cs typeface="Calibri"/>
                <a:sym typeface="Calibri"/>
              </a:rPr>
              <a:t>   System.out.println(s);//Sachin Tendulkar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41"/>
              </a:spcBef>
              <a:spcAft>
                <a:spcPts val="0"/>
              </a:spcAft>
              <a:buClr>
                <a:srgbClr val="000000"/>
              </a:buClr>
              <a:buSzPct val="100000"/>
              <a:buFont typeface="Arial"/>
              <a:buNone/>
            </a:pPr>
            <a:r>
              <a:rPr b="0" i="0" lang="en-US" sz="3200" u="none" cap="none" strike="noStrike">
                <a:solidFill>
                  <a:srgbClr val="000000"/>
                </a:solidFill>
                <a:latin typeface="Calibri"/>
                <a:ea typeface="Calibri"/>
                <a:cs typeface="Calibri"/>
                <a:sym typeface="Calibri"/>
              </a:rPr>
              <a:t> }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41"/>
              </a:spcBef>
              <a:spcAft>
                <a:spcPts val="0"/>
              </a:spcAft>
              <a:buClr>
                <a:srgbClr val="000000"/>
              </a:buClr>
              <a:buSzPct val="100000"/>
              <a:buFont typeface="Arial"/>
              <a:buNone/>
            </a:pPr>
            <a:r>
              <a:rPr b="0" i="0" lang="en-US" sz="32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283" name="Google Shape;283;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Sindhu K, Dept. of ISE</a:t>
            </a:r>
            <a:endParaRPr/>
          </a:p>
        </p:txBody>
      </p:sp>
      <p:sp>
        <p:nvSpPr>
          <p:cNvPr id="284" name="Google Shape;284;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21"/>
          <p:cNvSpPr txBox="1"/>
          <p:nvPr/>
        </p:nvSpPr>
        <p:spPr>
          <a:xfrm>
            <a:off x="634481" y="274680"/>
            <a:ext cx="10655559" cy="518422"/>
          </a:xfrm>
          <a:prstGeom prst="rect">
            <a:avLst/>
          </a:prstGeom>
          <a:noFill/>
          <a:ln>
            <a:noFill/>
          </a:ln>
        </p:spPr>
        <p:txBody>
          <a:bodyPr anchorCtr="0" anchor="ctr" bIns="45700" lIns="91425" spcFirstLastPara="1" rIns="91425" wrap="square" tIns="45700">
            <a:normAutofit fontScale="75000" lnSpcReduction="20000"/>
          </a:bodyPr>
          <a:lstStyle/>
          <a:p>
            <a:pPr indent="0" lvl="0" marL="0" marR="0" rtl="0" algn="ctr">
              <a:lnSpc>
                <a:spcPct val="100000"/>
              </a:lnSpc>
              <a:spcBef>
                <a:spcPts val="0"/>
              </a:spcBef>
              <a:spcAft>
                <a:spcPts val="0"/>
              </a:spcAft>
              <a:buClr>
                <a:srgbClr val="000000"/>
              </a:buClr>
              <a:buSzPct val="100000"/>
              <a:buFont typeface="Arial"/>
              <a:buNone/>
            </a:pPr>
            <a:r>
              <a:rPr b="1" i="0" lang="en-US" sz="4400" u="none" cap="none" strike="noStrike">
                <a:solidFill>
                  <a:srgbClr val="000000"/>
                </a:solidFill>
                <a:latin typeface="Calibri"/>
                <a:ea typeface="Calibri"/>
                <a:cs typeface="Calibri"/>
                <a:sym typeface="Calibri"/>
              </a:rPr>
              <a:t>String Handling</a:t>
            </a:r>
            <a:endParaRPr b="0" i="0" sz="4400" u="none" cap="none" strike="noStrike">
              <a:solidFill>
                <a:srgbClr val="000000"/>
              </a:solidFill>
              <a:latin typeface="Calibri"/>
              <a:ea typeface="Calibri"/>
              <a:cs typeface="Calibri"/>
              <a:sym typeface="Calibri"/>
            </a:endParaRPr>
          </a:p>
        </p:txBody>
      </p:sp>
      <p:sp>
        <p:nvSpPr>
          <p:cNvPr id="290" name="Google Shape;290;p21"/>
          <p:cNvSpPr txBox="1"/>
          <p:nvPr/>
        </p:nvSpPr>
        <p:spPr>
          <a:xfrm>
            <a:off x="811762" y="793102"/>
            <a:ext cx="10506269" cy="5835938"/>
          </a:xfrm>
          <a:prstGeom prst="rect">
            <a:avLst/>
          </a:prstGeom>
          <a:noFill/>
          <a:ln>
            <a:noFill/>
          </a:ln>
        </p:spPr>
        <p:txBody>
          <a:bodyPr anchorCtr="0" anchor="t" bIns="45700" lIns="91425" spcFirstLastPara="1" rIns="91425" wrap="square" tIns="45700">
            <a:normAutofit fontScale="94500"/>
          </a:bodyPr>
          <a:lstStyle/>
          <a:p>
            <a:pPr indent="0" lvl="0" marL="0" marR="0" rtl="0" algn="l">
              <a:lnSpc>
                <a:spcPct val="100000"/>
              </a:lnSpc>
              <a:spcBef>
                <a:spcPts val="0"/>
              </a:spcBef>
              <a:spcAft>
                <a:spcPts val="0"/>
              </a:spcAft>
              <a:buClr>
                <a:srgbClr val="000000"/>
              </a:buClr>
              <a:buSzPct val="100000"/>
              <a:buFont typeface="Arial"/>
              <a:buNone/>
            </a:pPr>
            <a:r>
              <a:rPr b="0" i="0" lang="en-US" sz="3200" u="none" cap="none" strike="noStrike">
                <a:solidFill>
                  <a:srgbClr val="000000"/>
                </a:solidFill>
                <a:latin typeface="Calibri"/>
                <a:ea typeface="Calibri"/>
                <a:cs typeface="Calibri"/>
                <a:sym typeface="Calibri"/>
              </a:rPr>
              <a:t>class TestStringConcatenation2{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41"/>
              </a:spcBef>
              <a:spcAft>
                <a:spcPts val="0"/>
              </a:spcAft>
              <a:buClr>
                <a:srgbClr val="000000"/>
              </a:buClr>
              <a:buSzPct val="100000"/>
              <a:buFont typeface="Arial"/>
              <a:buNone/>
            </a:pPr>
            <a:r>
              <a:rPr b="0" i="0" lang="en-US" sz="3200" u="none" cap="none" strike="noStrike">
                <a:solidFill>
                  <a:srgbClr val="000000"/>
                </a:solidFill>
                <a:latin typeface="Calibri"/>
                <a:ea typeface="Calibri"/>
                <a:cs typeface="Calibri"/>
                <a:sym typeface="Calibri"/>
              </a:rPr>
              <a:t> public static void main(String args[]){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41"/>
              </a:spcBef>
              <a:spcAft>
                <a:spcPts val="0"/>
              </a:spcAft>
              <a:buClr>
                <a:srgbClr val="000000"/>
              </a:buClr>
              <a:buSzPct val="100000"/>
              <a:buFont typeface="Arial"/>
              <a:buNone/>
            </a:pPr>
            <a:r>
              <a:rPr b="0" i="0" lang="en-US" sz="3200" u="none" cap="none" strike="noStrike">
                <a:solidFill>
                  <a:srgbClr val="000000"/>
                </a:solidFill>
                <a:latin typeface="Calibri"/>
                <a:ea typeface="Calibri"/>
                <a:cs typeface="Calibri"/>
                <a:sym typeface="Calibri"/>
              </a:rPr>
              <a:t>   String s=50+30+"Sachin"+40+40;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41"/>
              </a:spcBef>
              <a:spcAft>
                <a:spcPts val="0"/>
              </a:spcAft>
              <a:buClr>
                <a:srgbClr val="000000"/>
              </a:buClr>
              <a:buSzPct val="100000"/>
              <a:buFont typeface="Arial"/>
              <a:buNone/>
            </a:pPr>
            <a:r>
              <a:rPr b="0" i="0" lang="en-US" sz="3200" u="none" cap="none" strike="noStrike">
                <a:solidFill>
                  <a:srgbClr val="000000"/>
                </a:solidFill>
                <a:latin typeface="Calibri"/>
                <a:ea typeface="Calibri"/>
                <a:cs typeface="Calibri"/>
                <a:sym typeface="Calibri"/>
              </a:rPr>
              <a:t>   System.out.println(s);//80Sachin4040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41"/>
              </a:spcBef>
              <a:spcAft>
                <a:spcPts val="0"/>
              </a:spcAft>
              <a:buClr>
                <a:srgbClr val="000000"/>
              </a:buClr>
              <a:buSzPct val="100000"/>
              <a:buFont typeface="Arial"/>
              <a:buNone/>
            </a:pPr>
            <a:r>
              <a:rPr b="0" i="0" lang="en-US" sz="3200" u="none" cap="none" strike="noStrike">
                <a:solidFill>
                  <a:srgbClr val="000000"/>
                </a:solidFill>
                <a:latin typeface="Calibri"/>
                <a:ea typeface="Calibri"/>
                <a:cs typeface="Calibri"/>
                <a:sym typeface="Calibri"/>
              </a:rPr>
              <a:t> }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41"/>
              </a:spcBef>
              <a:spcAft>
                <a:spcPts val="0"/>
              </a:spcAft>
              <a:buClr>
                <a:srgbClr val="000000"/>
              </a:buClr>
              <a:buSzPct val="100000"/>
              <a:buFont typeface="Arial"/>
              <a:buNone/>
            </a:pPr>
            <a:r>
              <a:rPr b="0" i="0" lang="en-US" sz="32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41"/>
              </a:spcBef>
              <a:spcAft>
                <a:spcPts val="0"/>
              </a:spcAft>
              <a:buClr>
                <a:srgbClr val="000000"/>
              </a:buClr>
              <a:buSzPct val="100000"/>
              <a:buFont typeface="Arial"/>
              <a:buNone/>
            </a:pPr>
            <a:r>
              <a:t/>
            </a:r>
            <a:endParaRPr b="0" i="0" sz="3200" u="none" cap="none" strike="noStrike">
              <a:solidFill>
                <a:srgbClr val="000000"/>
              </a:solidFill>
              <a:latin typeface="Calibri"/>
              <a:ea typeface="Calibri"/>
              <a:cs typeface="Calibri"/>
              <a:sym typeface="Calibri"/>
            </a:endParaRPr>
          </a:p>
        </p:txBody>
      </p:sp>
      <p:pic>
        <p:nvPicPr>
          <p:cNvPr id="291" name="Google Shape;291;p21"/>
          <p:cNvPicPr preferRelativeResize="0"/>
          <p:nvPr/>
        </p:nvPicPr>
        <p:blipFill rotWithShape="1">
          <a:blip r:embed="rId3">
            <a:alphaModFix/>
          </a:blip>
          <a:srcRect b="0" l="0" r="0" t="0"/>
          <a:stretch/>
        </p:blipFill>
        <p:spPr>
          <a:xfrm>
            <a:off x="634481" y="4387818"/>
            <a:ext cx="8172450" cy="676275"/>
          </a:xfrm>
          <a:prstGeom prst="rect">
            <a:avLst/>
          </a:prstGeom>
          <a:noFill/>
          <a:ln>
            <a:noFill/>
          </a:ln>
        </p:spPr>
      </p:pic>
      <p:sp>
        <p:nvSpPr>
          <p:cNvPr id="292" name="Google Shape;292;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Sindhu K, Dept. of ISE</a:t>
            </a:r>
            <a:endParaRPr/>
          </a:p>
        </p:txBody>
      </p:sp>
      <p:sp>
        <p:nvSpPr>
          <p:cNvPr id="293" name="Google Shape;293;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22"/>
          <p:cNvSpPr txBox="1"/>
          <p:nvPr/>
        </p:nvSpPr>
        <p:spPr>
          <a:xfrm>
            <a:off x="634481" y="274680"/>
            <a:ext cx="10655559" cy="518422"/>
          </a:xfrm>
          <a:prstGeom prst="rect">
            <a:avLst/>
          </a:prstGeom>
          <a:noFill/>
          <a:ln>
            <a:noFill/>
          </a:ln>
        </p:spPr>
        <p:txBody>
          <a:bodyPr anchorCtr="0" anchor="ctr" bIns="45700" lIns="91425" spcFirstLastPara="1" rIns="91425" wrap="square" tIns="45700">
            <a:normAutofit fontScale="75000" lnSpcReduction="20000"/>
          </a:bodyPr>
          <a:lstStyle/>
          <a:p>
            <a:pPr indent="0" lvl="0" marL="0" marR="0" rtl="0" algn="ctr">
              <a:lnSpc>
                <a:spcPct val="100000"/>
              </a:lnSpc>
              <a:spcBef>
                <a:spcPts val="0"/>
              </a:spcBef>
              <a:spcAft>
                <a:spcPts val="0"/>
              </a:spcAft>
              <a:buClr>
                <a:srgbClr val="000000"/>
              </a:buClr>
              <a:buSzPct val="100000"/>
              <a:buFont typeface="Arial"/>
              <a:buNone/>
            </a:pPr>
            <a:r>
              <a:rPr b="1" i="0" lang="en-US" sz="4400" u="none" cap="none" strike="noStrike">
                <a:solidFill>
                  <a:srgbClr val="000000"/>
                </a:solidFill>
                <a:latin typeface="Calibri"/>
                <a:ea typeface="Calibri"/>
                <a:cs typeface="Calibri"/>
                <a:sym typeface="Calibri"/>
              </a:rPr>
              <a:t>String Handling</a:t>
            </a:r>
            <a:endParaRPr b="0" i="0" sz="4400" u="none" cap="none" strike="noStrike">
              <a:solidFill>
                <a:srgbClr val="000000"/>
              </a:solidFill>
              <a:latin typeface="Calibri"/>
              <a:ea typeface="Calibri"/>
              <a:cs typeface="Calibri"/>
              <a:sym typeface="Calibri"/>
            </a:endParaRPr>
          </a:p>
        </p:txBody>
      </p:sp>
      <p:sp>
        <p:nvSpPr>
          <p:cNvPr id="299" name="Google Shape;299;p22"/>
          <p:cNvSpPr txBox="1"/>
          <p:nvPr/>
        </p:nvSpPr>
        <p:spPr>
          <a:xfrm>
            <a:off x="811762" y="793102"/>
            <a:ext cx="10506269" cy="5835938"/>
          </a:xfrm>
          <a:prstGeom prst="rect">
            <a:avLst/>
          </a:prstGeom>
          <a:noFill/>
          <a:ln>
            <a:noFill/>
          </a:ln>
        </p:spPr>
        <p:txBody>
          <a:bodyPr anchorCtr="0" anchor="t" bIns="45700" lIns="91425" spcFirstLastPara="1" rIns="91425" wrap="square" tIns="45700">
            <a:normAutofit fontScale="87000" lnSpcReduction="20000"/>
          </a:bodyPr>
          <a:lstStyle/>
          <a:p>
            <a:pPr indent="0" lvl="0" marL="0" marR="0" rtl="0" algn="l">
              <a:lnSpc>
                <a:spcPct val="100000"/>
              </a:lnSpc>
              <a:spcBef>
                <a:spcPts val="0"/>
              </a:spcBef>
              <a:spcAft>
                <a:spcPts val="0"/>
              </a:spcAft>
              <a:buClr>
                <a:srgbClr val="000000"/>
              </a:buClr>
              <a:buSzPct val="100000"/>
              <a:buFont typeface="Arial"/>
              <a:buNone/>
            </a:pPr>
            <a:r>
              <a:rPr b="0" i="0" lang="en-US" sz="3200" u="none" cap="none" strike="noStrike">
                <a:solidFill>
                  <a:srgbClr val="000000"/>
                </a:solidFill>
                <a:latin typeface="Calibri"/>
                <a:ea typeface="Calibri"/>
                <a:cs typeface="Calibri"/>
                <a:sym typeface="Calibri"/>
              </a:rPr>
              <a:t>2) </a:t>
            </a:r>
            <a:r>
              <a:rPr b="1" i="0" lang="en-US" sz="3200" u="none" cap="none" strike="noStrike">
                <a:solidFill>
                  <a:srgbClr val="000000"/>
                </a:solidFill>
                <a:latin typeface="Calibri"/>
                <a:ea typeface="Calibri"/>
                <a:cs typeface="Calibri"/>
                <a:sym typeface="Calibri"/>
              </a:rPr>
              <a:t>String Concatenation by concat() method</a:t>
            </a:r>
            <a:endParaRPr b="1" i="0" sz="1400" u="none" cap="none" strike="noStrike">
              <a:solidFill>
                <a:srgbClr val="000000"/>
              </a:solidFill>
              <a:latin typeface="Arial"/>
              <a:ea typeface="Arial"/>
              <a:cs typeface="Arial"/>
              <a:sym typeface="Arial"/>
            </a:endParaRPr>
          </a:p>
          <a:p>
            <a:pPr indent="0" lvl="0" marL="0" marR="0" rtl="0" algn="l">
              <a:lnSpc>
                <a:spcPct val="100000"/>
              </a:lnSpc>
              <a:spcBef>
                <a:spcPts val="641"/>
              </a:spcBef>
              <a:spcAft>
                <a:spcPts val="0"/>
              </a:spcAft>
              <a:buClr>
                <a:srgbClr val="000000"/>
              </a:buClr>
              <a:buSzPct val="100000"/>
              <a:buFont typeface="Arial"/>
              <a:buNone/>
            </a:pPr>
            <a:r>
              <a:rPr b="0" i="0" lang="en-US" sz="3200" u="none" cap="none" strike="noStrike">
                <a:solidFill>
                  <a:srgbClr val="000000"/>
                </a:solidFill>
                <a:latin typeface="Calibri"/>
                <a:ea typeface="Calibri"/>
                <a:cs typeface="Calibri"/>
                <a:sym typeface="Calibri"/>
              </a:rPr>
              <a:t>The String concat() method concatenates the specified string to the end of current string.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41"/>
              </a:spcBef>
              <a:spcAft>
                <a:spcPts val="0"/>
              </a:spcAft>
              <a:buClr>
                <a:srgbClr val="000000"/>
              </a:buClr>
              <a:buSzPct val="100000"/>
              <a:buFont typeface="Arial"/>
              <a:buNone/>
            </a:pPr>
            <a:r>
              <a:rPr b="0" i="0" lang="en-US" sz="3200" u="none" cap="none" strike="noStrike">
                <a:solidFill>
                  <a:srgbClr val="000000"/>
                </a:solidFill>
                <a:latin typeface="Calibri"/>
                <a:ea typeface="Calibri"/>
                <a:cs typeface="Calibri"/>
                <a:sym typeface="Calibri"/>
              </a:rPr>
              <a:t>Syntax:</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41"/>
              </a:spcBef>
              <a:spcAft>
                <a:spcPts val="0"/>
              </a:spcAft>
              <a:buClr>
                <a:srgbClr val="000000"/>
              </a:buClr>
              <a:buSzPct val="100000"/>
              <a:buFont typeface="Arial"/>
              <a:buNone/>
            </a:pPr>
            <a:r>
              <a:rPr b="0" i="0" lang="en-US" sz="3200" u="none" cap="none" strike="noStrike">
                <a:solidFill>
                  <a:srgbClr val="000000"/>
                </a:solidFill>
                <a:latin typeface="Calibri"/>
                <a:ea typeface="Calibri"/>
                <a:cs typeface="Calibri"/>
                <a:sym typeface="Calibri"/>
              </a:rPr>
              <a:t>public String concat(String another)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41"/>
              </a:spcBef>
              <a:spcAft>
                <a:spcPts val="0"/>
              </a:spcAft>
              <a:buClr>
                <a:srgbClr val="000000"/>
              </a:buClr>
              <a:buSzPct val="100000"/>
              <a:buFont typeface="Arial"/>
              <a:buNone/>
            </a:pPr>
            <a:r>
              <a:t/>
            </a:r>
            <a:endParaRPr b="0" i="0" sz="3200" u="none" cap="none" strike="noStrike">
              <a:solidFill>
                <a:srgbClr val="000000"/>
              </a:solidFill>
              <a:latin typeface="Calibri"/>
              <a:ea typeface="Calibri"/>
              <a:cs typeface="Calibri"/>
              <a:sym typeface="Calibri"/>
            </a:endParaRPr>
          </a:p>
          <a:p>
            <a:pPr indent="0" lvl="0" marL="0" marR="0" rtl="0" algn="l">
              <a:lnSpc>
                <a:spcPct val="100000"/>
              </a:lnSpc>
              <a:spcBef>
                <a:spcPts val="641"/>
              </a:spcBef>
              <a:spcAft>
                <a:spcPts val="0"/>
              </a:spcAft>
              <a:buClr>
                <a:srgbClr val="000000"/>
              </a:buClr>
              <a:buSzPct val="100000"/>
              <a:buFont typeface="Arial"/>
              <a:buNone/>
            </a:pPr>
            <a:r>
              <a:rPr b="0" i="0" lang="en-US" sz="3200" u="none" cap="none" strike="noStrike">
                <a:solidFill>
                  <a:srgbClr val="000000"/>
                </a:solidFill>
                <a:latin typeface="Calibri"/>
                <a:ea typeface="Calibri"/>
                <a:cs typeface="Calibri"/>
                <a:sym typeface="Calibri"/>
              </a:rPr>
              <a:t>class TestStringConcatenation3{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41"/>
              </a:spcBef>
              <a:spcAft>
                <a:spcPts val="0"/>
              </a:spcAft>
              <a:buClr>
                <a:srgbClr val="000000"/>
              </a:buClr>
              <a:buSzPct val="100000"/>
              <a:buFont typeface="Arial"/>
              <a:buNone/>
            </a:pPr>
            <a:r>
              <a:rPr b="0" i="0" lang="en-US" sz="3200" u="none" cap="none" strike="noStrike">
                <a:solidFill>
                  <a:srgbClr val="000000"/>
                </a:solidFill>
                <a:latin typeface="Calibri"/>
                <a:ea typeface="Calibri"/>
                <a:cs typeface="Calibri"/>
                <a:sym typeface="Calibri"/>
              </a:rPr>
              <a:t> public static void main(String args[]){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41"/>
              </a:spcBef>
              <a:spcAft>
                <a:spcPts val="0"/>
              </a:spcAft>
              <a:buClr>
                <a:srgbClr val="000000"/>
              </a:buClr>
              <a:buSzPct val="100000"/>
              <a:buFont typeface="Arial"/>
              <a:buNone/>
            </a:pPr>
            <a:r>
              <a:rPr b="0" i="0" lang="en-US" sz="3200" u="none" cap="none" strike="noStrike">
                <a:solidFill>
                  <a:srgbClr val="000000"/>
                </a:solidFill>
                <a:latin typeface="Calibri"/>
                <a:ea typeface="Calibri"/>
                <a:cs typeface="Calibri"/>
                <a:sym typeface="Calibri"/>
              </a:rPr>
              <a:t>   String s1="Sachin ";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41"/>
              </a:spcBef>
              <a:spcAft>
                <a:spcPts val="0"/>
              </a:spcAft>
              <a:buClr>
                <a:srgbClr val="000000"/>
              </a:buClr>
              <a:buSzPct val="100000"/>
              <a:buFont typeface="Arial"/>
              <a:buNone/>
            </a:pPr>
            <a:r>
              <a:rPr b="0" i="0" lang="en-US" sz="3200" u="none" cap="none" strike="noStrike">
                <a:solidFill>
                  <a:srgbClr val="000000"/>
                </a:solidFill>
                <a:latin typeface="Calibri"/>
                <a:ea typeface="Calibri"/>
                <a:cs typeface="Calibri"/>
                <a:sym typeface="Calibri"/>
              </a:rPr>
              <a:t>   String s2="Tendulkar";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41"/>
              </a:spcBef>
              <a:spcAft>
                <a:spcPts val="0"/>
              </a:spcAft>
              <a:buClr>
                <a:srgbClr val="000000"/>
              </a:buClr>
              <a:buSzPct val="100000"/>
              <a:buFont typeface="Arial"/>
              <a:buNone/>
            </a:pPr>
            <a:r>
              <a:rPr b="0" i="0" lang="en-US" sz="3200" u="none" cap="none" strike="noStrike">
                <a:solidFill>
                  <a:srgbClr val="000000"/>
                </a:solidFill>
                <a:latin typeface="Calibri"/>
                <a:ea typeface="Calibri"/>
                <a:cs typeface="Calibri"/>
                <a:sym typeface="Calibri"/>
              </a:rPr>
              <a:t>   String s3=s1.concat(s2);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41"/>
              </a:spcBef>
              <a:spcAft>
                <a:spcPts val="0"/>
              </a:spcAft>
              <a:buClr>
                <a:srgbClr val="000000"/>
              </a:buClr>
              <a:buSzPct val="100000"/>
              <a:buFont typeface="Arial"/>
              <a:buNone/>
            </a:pPr>
            <a:r>
              <a:rPr b="0" i="0" lang="en-US" sz="3200" u="none" cap="none" strike="noStrike">
                <a:solidFill>
                  <a:srgbClr val="000000"/>
                </a:solidFill>
                <a:latin typeface="Calibri"/>
                <a:ea typeface="Calibri"/>
                <a:cs typeface="Calibri"/>
                <a:sym typeface="Calibri"/>
              </a:rPr>
              <a:t>   System.out.println(s3);//Sachin Tendulkar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41"/>
              </a:spcBef>
              <a:spcAft>
                <a:spcPts val="0"/>
              </a:spcAft>
              <a:buClr>
                <a:srgbClr val="000000"/>
              </a:buClr>
              <a:buSzPct val="100000"/>
              <a:buFont typeface="Arial"/>
              <a:buNone/>
            </a:pPr>
            <a:r>
              <a:rPr b="0" i="0" lang="en-US" sz="3200" u="none" cap="none" strike="noStrike">
                <a:solidFill>
                  <a:srgbClr val="000000"/>
                </a:solidFill>
                <a:latin typeface="Calibri"/>
                <a:ea typeface="Calibri"/>
                <a:cs typeface="Calibri"/>
                <a:sym typeface="Calibri"/>
              </a:rPr>
              <a:t>  }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41"/>
              </a:spcBef>
              <a:spcAft>
                <a:spcPts val="0"/>
              </a:spcAft>
              <a:buClr>
                <a:srgbClr val="000000"/>
              </a:buClr>
              <a:buSzPct val="100000"/>
              <a:buFont typeface="Arial"/>
              <a:buNone/>
            </a:pPr>
            <a:r>
              <a:rPr b="0" i="0" lang="en-US" sz="32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300" name="Google Shape;300;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Sindhu K, Dept. of ISE</a:t>
            </a:r>
            <a:endParaRPr/>
          </a:p>
        </p:txBody>
      </p:sp>
      <p:sp>
        <p:nvSpPr>
          <p:cNvPr id="301" name="Google Shape;301;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23"/>
          <p:cNvSpPr txBox="1"/>
          <p:nvPr/>
        </p:nvSpPr>
        <p:spPr>
          <a:xfrm>
            <a:off x="634481" y="274680"/>
            <a:ext cx="10655559" cy="518422"/>
          </a:xfrm>
          <a:prstGeom prst="rect">
            <a:avLst/>
          </a:prstGeom>
          <a:noFill/>
          <a:ln>
            <a:noFill/>
          </a:ln>
        </p:spPr>
        <p:txBody>
          <a:bodyPr anchorCtr="0" anchor="ctr" bIns="45700" lIns="91425" spcFirstLastPara="1" rIns="91425" wrap="square" tIns="45700">
            <a:normAutofit fontScale="75000" lnSpcReduction="20000"/>
          </a:bodyPr>
          <a:lstStyle/>
          <a:p>
            <a:pPr indent="0" lvl="0" marL="0" marR="0" rtl="0" algn="ctr">
              <a:lnSpc>
                <a:spcPct val="100000"/>
              </a:lnSpc>
              <a:spcBef>
                <a:spcPts val="0"/>
              </a:spcBef>
              <a:spcAft>
                <a:spcPts val="0"/>
              </a:spcAft>
              <a:buClr>
                <a:srgbClr val="000000"/>
              </a:buClr>
              <a:buSzPct val="100000"/>
              <a:buFont typeface="Arial"/>
              <a:buNone/>
            </a:pPr>
            <a:r>
              <a:rPr b="1" i="0" lang="en-US" sz="4400" u="none" cap="none" strike="noStrike">
                <a:solidFill>
                  <a:srgbClr val="000000"/>
                </a:solidFill>
                <a:latin typeface="Calibri"/>
                <a:ea typeface="Calibri"/>
                <a:cs typeface="Calibri"/>
                <a:sym typeface="Calibri"/>
              </a:rPr>
              <a:t>String Handling</a:t>
            </a:r>
            <a:endParaRPr b="0" i="0" sz="4400" u="none" cap="none" strike="noStrike">
              <a:solidFill>
                <a:srgbClr val="000000"/>
              </a:solidFill>
              <a:latin typeface="Calibri"/>
              <a:ea typeface="Calibri"/>
              <a:cs typeface="Calibri"/>
              <a:sym typeface="Calibri"/>
            </a:endParaRPr>
          </a:p>
        </p:txBody>
      </p:sp>
      <p:sp>
        <p:nvSpPr>
          <p:cNvPr id="307" name="Google Shape;307;p23"/>
          <p:cNvSpPr txBox="1"/>
          <p:nvPr/>
        </p:nvSpPr>
        <p:spPr>
          <a:xfrm>
            <a:off x="901960" y="793102"/>
            <a:ext cx="10506269" cy="5835938"/>
          </a:xfrm>
          <a:prstGeom prst="rect">
            <a:avLst/>
          </a:prstGeom>
          <a:noFill/>
          <a:ln>
            <a:noFill/>
          </a:ln>
        </p:spPr>
        <p:txBody>
          <a:bodyPr anchorCtr="0" anchor="t" bIns="45700" lIns="91425" spcFirstLastPara="1" rIns="91425" wrap="square" tIns="45700">
            <a:normAutofit fontScale="94500"/>
          </a:bodyPr>
          <a:lstStyle/>
          <a:p>
            <a:pPr indent="0" lvl="0" marL="0" marR="0" rtl="0" algn="l">
              <a:lnSpc>
                <a:spcPct val="100000"/>
              </a:lnSpc>
              <a:spcBef>
                <a:spcPts val="0"/>
              </a:spcBef>
              <a:spcAft>
                <a:spcPts val="0"/>
              </a:spcAft>
              <a:buClr>
                <a:srgbClr val="000000"/>
              </a:buClr>
              <a:buSzPct val="100000"/>
              <a:buFont typeface="Arial"/>
              <a:buNone/>
            </a:pPr>
            <a:r>
              <a:rPr b="1" i="0" lang="en-US" sz="3400" u="none" cap="none" strike="noStrike">
                <a:solidFill>
                  <a:srgbClr val="000000"/>
                </a:solidFill>
                <a:latin typeface="Calibri"/>
                <a:ea typeface="Calibri"/>
                <a:cs typeface="Calibri"/>
                <a:sym typeface="Calibri"/>
              </a:rPr>
              <a:t>String Conversion and toString(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41"/>
              </a:spcBef>
              <a:spcAft>
                <a:spcPts val="0"/>
              </a:spcAft>
              <a:buClr>
                <a:srgbClr val="000000"/>
              </a:buClr>
              <a:buSzPct val="100000"/>
              <a:buFont typeface="Arial"/>
              <a:buNone/>
            </a:pPr>
            <a:r>
              <a:rPr b="0" i="0" lang="en-US" sz="3200" u="none" cap="none" strike="noStrike">
                <a:solidFill>
                  <a:srgbClr val="000000"/>
                </a:solidFill>
                <a:latin typeface="Calibri"/>
                <a:ea typeface="Calibri"/>
                <a:cs typeface="Calibri"/>
                <a:sym typeface="Calibri"/>
              </a:rPr>
              <a:t>toString(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41"/>
              </a:spcBef>
              <a:spcAft>
                <a:spcPts val="0"/>
              </a:spcAft>
              <a:buClr>
                <a:srgbClr val="000000"/>
              </a:buClr>
              <a:buSzPct val="100000"/>
              <a:buFont typeface="Arial"/>
              <a:buNone/>
            </a:pPr>
            <a:r>
              <a:rPr b="0" i="0" lang="en-US" sz="3200" u="none" cap="none" strike="noStrike">
                <a:solidFill>
                  <a:srgbClr val="000000"/>
                </a:solidFill>
                <a:latin typeface="Calibri"/>
                <a:ea typeface="Calibri"/>
                <a:cs typeface="Calibri"/>
                <a:sym typeface="Calibri"/>
              </a:rPr>
              <a:t> It is the means by which you can determine the string representation for  objects of classes that you create.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41"/>
              </a:spcBef>
              <a:spcAft>
                <a:spcPts val="0"/>
              </a:spcAft>
              <a:buClr>
                <a:srgbClr val="000000"/>
              </a:buClr>
              <a:buSzPct val="100000"/>
              <a:buFont typeface="Arial"/>
              <a:buNone/>
            </a:pPr>
            <a:r>
              <a:rPr b="0" i="0" lang="en-US" sz="3200" u="none" cap="none" strike="noStrike">
                <a:solidFill>
                  <a:srgbClr val="000000"/>
                </a:solidFill>
                <a:latin typeface="Calibri"/>
                <a:ea typeface="Calibri"/>
                <a:cs typeface="Calibri"/>
                <a:sym typeface="Calibri"/>
              </a:rPr>
              <a:t>The toString( ) method has this general form:</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41"/>
              </a:spcBef>
              <a:spcAft>
                <a:spcPts val="0"/>
              </a:spcAft>
              <a:buClr>
                <a:srgbClr val="000000"/>
              </a:buClr>
              <a:buSzPct val="100000"/>
              <a:buFont typeface="Arial"/>
              <a:buNone/>
            </a:pPr>
            <a:r>
              <a:rPr b="1" i="0" lang="en-US" sz="3200" u="none" cap="none" strike="noStrike">
                <a:solidFill>
                  <a:srgbClr val="000000"/>
                </a:solidFill>
                <a:latin typeface="Calibri"/>
                <a:ea typeface="Calibri"/>
                <a:cs typeface="Calibri"/>
                <a:sym typeface="Calibri"/>
              </a:rPr>
              <a:t>String toString(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41"/>
              </a:spcBef>
              <a:spcAft>
                <a:spcPts val="0"/>
              </a:spcAft>
              <a:buClr>
                <a:srgbClr val="000000"/>
              </a:buClr>
              <a:buSzPct val="100000"/>
              <a:buFont typeface="Arial"/>
              <a:buNone/>
            </a:pPr>
            <a:r>
              <a:rPr b="0" i="0" lang="en-US" sz="3200" u="none" cap="none" strike="noStrike">
                <a:solidFill>
                  <a:srgbClr val="000000"/>
                </a:solidFill>
                <a:latin typeface="Calibri"/>
                <a:ea typeface="Calibri"/>
                <a:cs typeface="Calibri"/>
                <a:sym typeface="Calibri"/>
              </a:rPr>
              <a:t>To implement toString( ), simply return a String object that contains the human-readable string that appropriately describes an object of your class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41"/>
              </a:spcBef>
              <a:spcAft>
                <a:spcPts val="0"/>
              </a:spcAft>
              <a:buClr>
                <a:srgbClr val="000000"/>
              </a:buClr>
              <a:buSzPct val="100000"/>
              <a:buFont typeface="Arial"/>
              <a:buNone/>
            </a:pPr>
            <a:r>
              <a:t/>
            </a:r>
            <a:endParaRPr b="0" i="0" sz="3200" u="none" cap="none" strike="noStrike">
              <a:solidFill>
                <a:srgbClr val="000000"/>
              </a:solidFill>
              <a:latin typeface="Calibri"/>
              <a:ea typeface="Calibri"/>
              <a:cs typeface="Calibri"/>
              <a:sym typeface="Calibri"/>
            </a:endParaRPr>
          </a:p>
        </p:txBody>
      </p:sp>
      <p:sp>
        <p:nvSpPr>
          <p:cNvPr id="308" name="Google Shape;308;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Sindhu K, Dept. of ISE</a:t>
            </a:r>
            <a:endParaRPr/>
          </a:p>
        </p:txBody>
      </p:sp>
      <p:sp>
        <p:nvSpPr>
          <p:cNvPr id="309" name="Google Shape;309;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24"/>
          <p:cNvSpPr txBox="1"/>
          <p:nvPr/>
        </p:nvSpPr>
        <p:spPr>
          <a:xfrm>
            <a:off x="634481" y="274680"/>
            <a:ext cx="10655559" cy="518422"/>
          </a:xfrm>
          <a:prstGeom prst="rect">
            <a:avLst/>
          </a:prstGeom>
          <a:noFill/>
          <a:ln>
            <a:noFill/>
          </a:ln>
        </p:spPr>
        <p:txBody>
          <a:bodyPr anchorCtr="0" anchor="ctr" bIns="45700" lIns="91425" spcFirstLastPara="1" rIns="91425" wrap="square" tIns="45700">
            <a:normAutofit fontScale="75000" lnSpcReduction="20000"/>
          </a:bodyPr>
          <a:lstStyle/>
          <a:p>
            <a:pPr indent="0" lvl="0" marL="0" marR="0" rtl="0" algn="ctr">
              <a:lnSpc>
                <a:spcPct val="100000"/>
              </a:lnSpc>
              <a:spcBef>
                <a:spcPts val="0"/>
              </a:spcBef>
              <a:spcAft>
                <a:spcPts val="0"/>
              </a:spcAft>
              <a:buClr>
                <a:srgbClr val="000000"/>
              </a:buClr>
              <a:buSzPct val="100000"/>
              <a:buFont typeface="Arial"/>
              <a:buNone/>
            </a:pPr>
            <a:r>
              <a:rPr b="1" i="0" lang="en-US" sz="4400" u="none" cap="none" strike="noStrike">
                <a:solidFill>
                  <a:srgbClr val="000000"/>
                </a:solidFill>
                <a:latin typeface="Calibri"/>
                <a:ea typeface="Calibri"/>
                <a:cs typeface="Calibri"/>
                <a:sym typeface="Calibri"/>
              </a:rPr>
              <a:t>String Handling</a:t>
            </a:r>
            <a:endParaRPr b="0" i="0" sz="4400" u="none" cap="none" strike="noStrike">
              <a:solidFill>
                <a:srgbClr val="000000"/>
              </a:solidFill>
              <a:latin typeface="Calibri"/>
              <a:ea typeface="Calibri"/>
              <a:cs typeface="Calibri"/>
              <a:sym typeface="Calibri"/>
            </a:endParaRPr>
          </a:p>
        </p:txBody>
      </p:sp>
      <p:sp>
        <p:nvSpPr>
          <p:cNvPr id="315" name="Google Shape;315;p24"/>
          <p:cNvSpPr txBox="1"/>
          <p:nvPr/>
        </p:nvSpPr>
        <p:spPr>
          <a:xfrm>
            <a:off x="307910" y="802433"/>
            <a:ext cx="4637316" cy="5835938"/>
          </a:xfrm>
          <a:prstGeom prst="rect">
            <a:avLst/>
          </a:prstGeom>
          <a:noFill/>
          <a:ln>
            <a:noFill/>
          </a:ln>
        </p:spPr>
        <p:txBody>
          <a:bodyPr anchorCtr="0" anchor="t" bIns="45700" lIns="91425" spcFirstLastPara="1" rIns="91425" wrap="square" tIns="45700">
            <a:normAutofit fontScale="94500" lnSpcReduction="10000"/>
          </a:bodyPr>
          <a:lstStyle/>
          <a:p>
            <a:pPr indent="0" lvl="0" marL="0" marR="0" rtl="0" algn="l">
              <a:lnSpc>
                <a:spcPct val="100000"/>
              </a:lnSpc>
              <a:spcBef>
                <a:spcPts val="0"/>
              </a:spcBef>
              <a:spcAft>
                <a:spcPts val="0"/>
              </a:spcAft>
              <a:buClr>
                <a:srgbClr val="000000"/>
              </a:buClr>
              <a:buSzPct val="100000"/>
              <a:buFont typeface="Arial"/>
              <a:buNone/>
            </a:pPr>
            <a:r>
              <a:rPr b="1" i="0" lang="en-US" sz="2100" u="none" cap="none" strike="noStrike">
                <a:solidFill>
                  <a:srgbClr val="000000"/>
                </a:solidFill>
                <a:latin typeface="Calibri"/>
                <a:ea typeface="Calibri"/>
                <a:cs typeface="Calibri"/>
                <a:sym typeface="Calibri"/>
              </a:rPr>
              <a:t>The following program demonstrates this by overriding toString( ) for the Box class: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41"/>
              </a:spcBef>
              <a:spcAft>
                <a:spcPts val="0"/>
              </a:spcAft>
              <a:buClr>
                <a:srgbClr val="000000"/>
              </a:buClr>
              <a:buSzPct val="100000"/>
              <a:buFont typeface="Arial"/>
              <a:buNone/>
            </a:pPr>
            <a:r>
              <a:rPr b="0" i="0" lang="en-US" sz="2100" u="none" cap="none" strike="noStrike">
                <a:solidFill>
                  <a:srgbClr val="000000"/>
                </a:solidFill>
                <a:latin typeface="Calibri"/>
                <a:ea typeface="Calibri"/>
                <a:cs typeface="Calibri"/>
                <a:sym typeface="Calibri"/>
              </a:rPr>
              <a:t>class Box {</a:t>
            </a:r>
            <a:endParaRPr b="0" i="0" sz="1400" u="none" cap="none" strike="noStrike">
              <a:solidFill>
                <a:srgbClr val="000000"/>
              </a:solidFill>
              <a:latin typeface="Arial"/>
              <a:ea typeface="Arial"/>
              <a:cs typeface="Arial"/>
              <a:sym typeface="Arial"/>
            </a:endParaRPr>
          </a:p>
          <a:p>
            <a:pPr indent="0" lvl="0" marL="541338" marR="0" rtl="0" algn="l">
              <a:lnSpc>
                <a:spcPct val="100000"/>
              </a:lnSpc>
              <a:spcBef>
                <a:spcPts val="641"/>
              </a:spcBef>
              <a:spcAft>
                <a:spcPts val="0"/>
              </a:spcAft>
              <a:buClr>
                <a:srgbClr val="000000"/>
              </a:buClr>
              <a:buSzPct val="100000"/>
              <a:buFont typeface="Arial"/>
              <a:buNone/>
            </a:pPr>
            <a:r>
              <a:rPr b="0" i="0" lang="en-US" sz="2100" u="none" cap="none" strike="noStrike">
                <a:solidFill>
                  <a:srgbClr val="000000"/>
                </a:solidFill>
                <a:latin typeface="Calibri"/>
                <a:ea typeface="Calibri"/>
                <a:cs typeface="Calibri"/>
                <a:sym typeface="Calibri"/>
              </a:rPr>
              <a:t>double width;</a:t>
            </a:r>
            <a:endParaRPr b="0" i="0" sz="1400" u="none" cap="none" strike="noStrike">
              <a:solidFill>
                <a:srgbClr val="000000"/>
              </a:solidFill>
              <a:latin typeface="Arial"/>
              <a:ea typeface="Arial"/>
              <a:cs typeface="Arial"/>
              <a:sym typeface="Arial"/>
            </a:endParaRPr>
          </a:p>
          <a:p>
            <a:pPr indent="0" lvl="0" marL="541338" marR="0" rtl="0" algn="l">
              <a:lnSpc>
                <a:spcPct val="100000"/>
              </a:lnSpc>
              <a:spcBef>
                <a:spcPts val="641"/>
              </a:spcBef>
              <a:spcAft>
                <a:spcPts val="0"/>
              </a:spcAft>
              <a:buClr>
                <a:srgbClr val="000000"/>
              </a:buClr>
              <a:buSzPct val="100000"/>
              <a:buFont typeface="Arial"/>
              <a:buNone/>
            </a:pPr>
            <a:r>
              <a:rPr b="0" i="0" lang="en-US" sz="2100" u="none" cap="none" strike="noStrike">
                <a:solidFill>
                  <a:srgbClr val="000000"/>
                </a:solidFill>
                <a:latin typeface="Calibri"/>
                <a:ea typeface="Calibri"/>
                <a:cs typeface="Calibri"/>
                <a:sym typeface="Calibri"/>
              </a:rPr>
              <a:t>double height;</a:t>
            </a:r>
            <a:endParaRPr b="0" i="0" sz="1400" u="none" cap="none" strike="noStrike">
              <a:solidFill>
                <a:srgbClr val="000000"/>
              </a:solidFill>
              <a:latin typeface="Arial"/>
              <a:ea typeface="Arial"/>
              <a:cs typeface="Arial"/>
              <a:sym typeface="Arial"/>
            </a:endParaRPr>
          </a:p>
          <a:p>
            <a:pPr indent="0" lvl="0" marL="541338" marR="0" rtl="0" algn="l">
              <a:lnSpc>
                <a:spcPct val="100000"/>
              </a:lnSpc>
              <a:spcBef>
                <a:spcPts val="641"/>
              </a:spcBef>
              <a:spcAft>
                <a:spcPts val="0"/>
              </a:spcAft>
              <a:buClr>
                <a:srgbClr val="000000"/>
              </a:buClr>
              <a:buSzPct val="100000"/>
              <a:buFont typeface="Arial"/>
              <a:buNone/>
            </a:pPr>
            <a:r>
              <a:rPr b="0" i="0" lang="en-US" sz="2100" u="none" cap="none" strike="noStrike">
                <a:solidFill>
                  <a:srgbClr val="000000"/>
                </a:solidFill>
                <a:latin typeface="Calibri"/>
                <a:ea typeface="Calibri"/>
                <a:cs typeface="Calibri"/>
                <a:sym typeface="Calibri"/>
              </a:rPr>
              <a:t>double depth;</a:t>
            </a:r>
            <a:endParaRPr b="0" i="0" sz="1400" u="none" cap="none" strike="noStrike">
              <a:solidFill>
                <a:srgbClr val="000000"/>
              </a:solidFill>
              <a:latin typeface="Arial"/>
              <a:ea typeface="Arial"/>
              <a:cs typeface="Arial"/>
              <a:sym typeface="Arial"/>
            </a:endParaRPr>
          </a:p>
          <a:p>
            <a:pPr indent="0" lvl="0" marL="541338" marR="0" rtl="0" algn="l">
              <a:lnSpc>
                <a:spcPct val="100000"/>
              </a:lnSpc>
              <a:spcBef>
                <a:spcPts val="641"/>
              </a:spcBef>
              <a:spcAft>
                <a:spcPts val="0"/>
              </a:spcAft>
              <a:buClr>
                <a:srgbClr val="000000"/>
              </a:buClr>
              <a:buSzPct val="100000"/>
              <a:buFont typeface="Arial"/>
              <a:buNone/>
            </a:pPr>
            <a:r>
              <a:rPr b="0" i="0" lang="en-US" sz="2100" u="none" cap="none" strike="noStrike">
                <a:solidFill>
                  <a:srgbClr val="000000"/>
                </a:solidFill>
                <a:latin typeface="Calibri"/>
                <a:ea typeface="Calibri"/>
                <a:cs typeface="Calibri"/>
                <a:sym typeface="Calibri"/>
              </a:rPr>
              <a:t>Box(double w, double h, double d) {</a:t>
            </a:r>
            <a:endParaRPr b="0" i="0" sz="1400" u="none" cap="none" strike="noStrike">
              <a:solidFill>
                <a:srgbClr val="000000"/>
              </a:solidFill>
              <a:latin typeface="Arial"/>
              <a:ea typeface="Arial"/>
              <a:cs typeface="Arial"/>
              <a:sym typeface="Arial"/>
            </a:endParaRPr>
          </a:p>
          <a:p>
            <a:pPr indent="0" lvl="0" marL="541338" marR="0" rtl="0" algn="l">
              <a:lnSpc>
                <a:spcPct val="100000"/>
              </a:lnSpc>
              <a:spcBef>
                <a:spcPts val="641"/>
              </a:spcBef>
              <a:spcAft>
                <a:spcPts val="0"/>
              </a:spcAft>
              <a:buClr>
                <a:srgbClr val="000000"/>
              </a:buClr>
              <a:buSzPct val="100000"/>
              <a:buFont typeface="Arial"/>
              <a:buNone/>
            </a:pPr>
            <a:r>
              <a:rPr b="0" i="0" lang="en-US" sz="2100" u="none" cap="none" strike="noStrike">
                <a:solidFill>
                  <a:srgbClr val="000000"/>
                </a:solidFill>
                <a:latin typeface="Calibri"/>
                <a:ea typeface="Calibri"/>
                <a:cs typeface="Calibri"/>
                <a:sym typeface="Calibri"/>
              </a:rPr>
              <a:t>width = w;</a:t>
            </a:r>
            <a:endParaRPr b="0" i="0" sz="1400" u="none" cap="none" strike="noStrike">
              <a:solidFill>
                <a:srgbClr val="000000"/>
              </a:solidFill>
              <a:latin typeface="Arial"/>
              <a:ea typeface="Arial"/>
              <a:cs typeface="Arial"/>
              <a:sym typeface="Arial"/>
            </a:endParaRPr>
          </a:p>
          <a:p>
            <a:pPr indent="0" lvl="0" marL="541338" marR="0" rtl="0" algn="l">
              <a:lnSpc>
                <a:spcPct val="100000"/>
              </a:lnSpc>
              <a:spcBef>
                <a:spcPts val="641"/>
              </a:spcBef>
              <a:spcAft>
                <a:spcPts val="0"/>
              </a:spcAft>
              <a:buClr>
                <a:srgbClr val="000000"/>
              </a:buClr>
              <a:buSzPct val="100000"/>
              <a:buFont typeface="Arial"/>
              <a:buNone/>
            </a:pPr>
            <a:r>
              <a:rPr b="0" i="0" lang="en-US" sz="2100" u="none" cap="none" strike="noStrike">
                <a:solidFill>
                  <a:srgbClr val="000000"/>
                </a:solidFill>
                <a:latin typeface="Calibri"/>
                <a:ea typeface="Calibri"/>
                <a:cs typeface="Calibri"/>
                <a:sym typeface="Calibri"/>
              </a:rPr>
              <a:t>height = h;</a:t>
            </a:r>
            <a:endParaRPr b="0" i="0" sz="1400" u="none" cap="none" strike="noStrike">
              <a:solidFill>
                <a:srgbClr val="000000"/>
              </a:solidFill>
              <a:latin typeface="Arial"/>
              <a:ea typeface="Arial"/>
              <a:cs typeface="Arial"/>
              <a:sym typeface="Arial"/>
            </a:endParaRPr>
          </a:p>
          <a:p>
            <a:pPr indent="0" lvl="0" marL="541338" marR="0" rtl="0" algn="l">
              <a:lnSpc>
                <a:spcPct val="100000"/>
              </a:lnSpc>
              <a:spcBef>
                <a:spcPts val="641"/>
              </a:spcBef>
              <a:spcAft>
                <a:spcPts val="0"/>
              </a:spcAft>
              <a:buClr>
                <a:srgbClr val="000000"/>
              </a:buClr>
              <a:buSzPct val="100000"/>
              <a:buFont typeface="Arial"/>
              <a:buNone/>
            </a:pPr>
            <a:r>
              <a:rPr b="0" i="0" lang="en-US" sz="2100" u="none" cap="none" strike="noStrike">
                <a:solidFill>
                  <a:srgbClr val="000000"/>
                </a:solidFill>
                <a:latin typeface="Calibri"/>
                <a:ea typeface="Calibri"/>
                <a:cs typeface="Calibri"/>
                <a:sym typeface="Calibri"/>
              </a:rPr>
              <a:t>depth = d;</a:t>
            </a:r>
            <a:endParaRPr b="0" i="0" sz="1400" u="none" cap="none" strike="noStrike">
              <a:solidFill>
                <a:srgbClr val="000000"/>
              </a:solidFill>
              <a:latin typeface="Arial"/>
              <a:ea typeface="Arial"/>
              <a:cs typeface="Arial"/>
              <a:sym typeface="Arial"/>
            </a:endParaRPr>
          </a:p>
          <a:p>
            <a:pPr indent="0" lvl="0" marL="541338" marR="0" rtl="0" algn="l">
              <a:lnSpc>
                <a:spcPct val="100000"/>
              </a:lnSpc>
              <a:spcBef>
                <a:spcPts val="641"/>
              </a:spcBef>
              <a:spcAft>
                <a:spcPts val="0"/>
              </a:spcAft>
              <a:buClr>
                <a:srgbClr val="000000"/>
              </a:buClr>
              <a:buSzPct val="100000"/>
              <a:buFont typeface="Arial"/>
              <a:buNone/>
            </a:pPr>
            <a:r>
              <a:rPr b="0" i="0" lang="en-US" sz="2100" u="none" cap="none" strike="noStrike">
                <a:solidFill>
                  <a:srgbClr val="000000"/>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a:p>
            <a:pPr indent="0" lvl="0" marL="541338" marR="0" rtl="0" algn="l">
              <a:lnSpc>
                <a:spcPct val="100000"/>
              </a:lnSpc>
              <a:spcBef>
                <a:spcPts val="641"/>
              </a:spcBef>
              <a:spcAft>
                <a:spcPts val="0"/>
              </a:spcAft>
              <a:buClr>
                <a:srgbClr val="000000"/>
              </a:buClr>
              <a:buSzPct val="100000"/>
              <a:buFont typeface="Arial"/>
              <a:buNone/>
            </a:pPr>
            <a:r>
              <a:rPr b="0" i="0" lang="en-US" sz="2100" u="none" cap="none" strike="noStrike">
                <a:solidFill>
                  <a:srgbClr val="000000"/>
                </a:solidFill>
                <a:latin typeface="Calibri"/>
                <a:ea typeface="Calibri"/>
                <a:cs typeface="Calibri"/>
                <a:sym typeface="Calibri"/>
              </a:rPr>
              <a:t>public String toString() {</a:t>
            </a:r>
            <a:endParaRPr b="0" i="0" sz="1400" u="none" cap="none" strike="noStrike">
              <a:solidFill>
                <a:srgbClr val="000000"/>
              </a:solidFill>
              <a:latin typeface="Arial"/>
              <a:ea typeface="Arial"/>
              <a:cs typeface="Arial"/>
              <a:sym typeface="Arial"/>
            </a:endParaRPr>
          </a:p>
          <a:p>
            <a:pPr indent="0" lvl="0" marL="541338" marR="0" rtl="0" algn="l">
              <a:lnSpc>
                <a:spcPct val="100000"/>
              </a:lnSpc>
              <a:spcBef>
                <a:spcPts val="641"/>
              </a:spcBef>
              <a:spcAft>
                <a:spcPts val="0"/>
              </a:spcAft>
              <a:buClr>
                <a:srgbClr val="000000"/>
              </a:buClr>
              <a:buSzPct val="100000"/>
              <a:buFont typeface="Arial"/>
              <a:buNone/>
            </a:pPr>
            <a:r>
              <a:rPr b="0" i="0" lang="en-US" sz="2100" u="none" cap="none" strike="noStrike">
                <a:solidFill>
                  <a:srgbClr val="000000"/>
                </a:solidFill>
                <a:latin typeface="Calibri"/>
                <a:ea typeface="Calibri"/>
                <a:cs typeface="Calibri"/>
                <a:sym typeface="Calibri"/>
              </a:rPr>
              <a:t>return "Dimensions are " + width + " by " +depth + " by " + height + ".";</a:t>
            </a:r>
            <a:endParaRPr b="0" i="0" sz="1400" u="none" cap="none" strike="noStrike">
              <a:solidFill>
                <a:srgbClr val="000000"/>
              </a:solidFill>
              <a:latin typeface="Arial"/>
              <a:ea typeface="Arial"/>
              <a:cs typeface="Arial"/>
              <a:sym typeface="Arial"/>
            </a:endParaRPr>
          </a:p>
          <a:p>
            <a:pPr indent="0" lvl="0" marL="541338" marR="0" rtl="0" algn="l">
              <a:lnSpc>
                <a:spcPct val="100000"/>
              </a:lnSpc>
              <a:spcBef>
                <a:spcPts val="641"/>
              </a:spcBef>
              <a:spcAft>
                <a:spcPts val="0"/>
              </a:spcAft>
              <a:buClr>
                <a:srgbClr val="000000"/>
              </a:buClr>
              <a:buSzPct val="100000"/>
              <a:buFont typeface="Arial"/>
              <a:buNone/>
            </a:pPr>
            <a:r>
              <a:rPr b="0" i="0" lang="en-US" sz="2100" u="none" cap="none" strike="noStrike">
                <a:solidFill>
                  <a:srgbClr val="000000"/>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41"/>
              </a:spcBef>
              <a:spcAft>
                <a:spcPts val="0"/>
              </a:spcAft>
              <a:buClr>
                <a:srgbClr val="000000"/>
              </a:buClr>
              <a:buSzPct val="100000"/>
              <a:buFont typeface="Arial"/>
              <a:buNone/>
            </a:pPr>
            <a:r>
              <a:rPr b="0" i="0" lang="en-US" sz="2100" u="none" cap="none" strike="noStrike">
                <a:solidFill>
                  <a:srgbClr val="000000"/>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41"/>
              </a:spcBef>
              <a:spcAft>
                <a:spcPts val="0"/>
              </a:spcAft>
              <a:buClr>
                <a:srgbClr val="000000"/>
              </a:buClr>
              <a:buSzPct val="100000"/>
              <a:buFont typeface="Arial"/>
              <a:buNone/>
            </a:pPr>
            <a:r>
              <a:t/>
            </a:r>
            <a:endParaRPr b="0" i="0" sz="3200" u="none" cap="none" strike="noStrike">
              <a:solidFill>
                <a:srgbClr val="000000"/>
              </a:solidFill>
              <a:latin typeface="Calibri"/>
              <a:ea typeface="Calibri"/>
              <a:cs typeface="Calibri"/>
              <a:sym typeface="Calibri"/>
            </a:endParaRPr>
          </a:p>
        </p:txBody>
      </p:sp>
      <p:pic>
        <p:nvPicPr>
          <p:cNvPr id="316" name="Google Shape;316;p24"/>
          <p:cNvPicPr preferRelativeResize="0"/>
          <p:nvPr/>
        </p:nvPicPr>
        <p:blipFill rotWithShape="1">
          <a:blip r:embed="rId3">
            <a:alphaModFix/>
          </a:blip>
          <a:srcRect b="0" l="0" r="0" t="0"/>
          <a:stretch/>
        </p:blipFill>
        <p:spPr>
          <a:xfrm>
            <a:off x="5573394" y="787972"/>
            <a:ext cx="6419644" cy="5864860"/>
          </a:xfrm>
          <a:prstGeom prst="rect">
            <a:avLst/>
          </a:prstGeom>
          <a:noFill/>
          <a:ln>
            <a:noFill/>
          </a:ln>
        </p:spPr>
      </p:pic>
      <p:sp>
        <p:nvSpPr>
          <p:cNvPr id="317" name="Google Shape;317;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Sindhu K, Dept. of ISE</a:t>
            </a:r>
            <a:endParaRPr/>
          </a:p>
        </p:txBody>
      </p:sp>
      <p:sp>
        <p:nvSpPr>
          <p:cNvPr id="318" name="Google Shape;318;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25"/>
          <p:cNvSpPr/>
          <p:nvPr/>
        </p:nvSpPr>
        <p:spPr>
          <a:xfrm>
            <a:off x="501614" y="199248"/>
            <a:ext cx="10097961"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alibri"/>
                <a:ea typeface="Calibri"/>
                <a:cs typeface="Calibri"/>
                <a:sym typeface="Calibri"/>
              </a:rPr>
              <a:t>Character Extraction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The </a:t>
            </a:r>
            <a:r>
              <a:rPr b="1" i="0" lang="en-US" sz="1800" u="none" cap="none" strike="noStrike">
                <a:solidFill>
                  <a:schemeClr val="dk1"/>
                </a:solidFill>
                <a:latin typeface="Calibri"/>
                <a:ea typeface="Calibri"/>
                <a:cs typeface="Calibri"/>
                <a:sym typeface="Calibri"/>
              </a:rPr>
              <a:t>String </a:t>
            </a:r>
            <a:r>
              <a:rPr b="0" i="0" lang="en-US" sz="1800" u="none" cap="none" strike="noStrike">
                <a:solidFill>
                  <a:schemeClr val="dk1"/>
                </a:solidFill>
                <a:latin typeface="Calibri"/>
                <a:ea typeface="Calibri"/>
                <a:cs typeface="Calibri"/>
                <a:sym typeface="Calibri"/>
              </a:rPr>
              <a:t>class provides a number of ways in which characters can be extracted from a </a:t>
            </a:r>
            <a:r>
              <a:rPr b="1" i="0" lang="en-US" sz="1800" u="none" cap="none" strike="noStrike">
                <a:solidFill>
                  <a:schemeClr val="dk1"/>
                </a:solidFill>
                <a:latin typeface="Calibri"/>
                <a:ea typeface="Calibri"/>
                <a:cs typeface="Calibri"/>
                <a:sym typeface="Calibri"/>
              </a:rPr>
              <a:t>String </a:t>
            </a:r>
            <a:r>
              <a:rPr b="0" i="0" lang="en-US" sz="1800" u="none" cap="none" strike="noStrike">
                <a:solidFill>
                  <a:schemeClr val="dk1"/>
                </a:solidFill>
                <a:latin typeface="Calibri"/>
                <a:ea typeface="Calibri"/>
                <a:cs typeface="Calibri"/>
                <a:sym typeface="Calibri"/>
              </a:rPr>
              <a:t>object.</a:t>
            </a:r>
            <a:endParaRPr b="0" i="0" sz="1400" u="none" cap="none" strike="noStrike">
              <a:solidFill>
                <a:srgbClr val="000000"/>
              </a:solidFill>
              <a:latin typeface="Arial"/>
              <a:ea typeface="Arial"/>
              <a:cs typeface="Arial"/>
              <a:sym typeface="Arial"/>
            </a:endParaRPr>
          </a:p>
        </p:txBody>
      </p:sp>
      <p:sp>
        <p:nvSpPr>
          <p:cNvPr id="324" name="Google Shape;324;p25"/>
          <p:cNvSpPr/>
          <p:nvPr/>
        </p:nvSpPr>
        <p:spPr>
          <a:xfrm>
            <a:off x="501613" y="845579"/>
            <a:ext cx="10788427" cy="20313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alibri"/>
                <a:ea typeface="Calibri"/>
                <a:cs typeface="Calibri"/>
                <a:sym typeface="Calibri"/>
              </a:rPr>
              <a:t>charAt(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char charAt(int </a:t>
            </a:r>
            <a:r>
              <a:rPr b="0" i="1" lang="en-US" sz="1800" u="none" cap="none" strike="noStrike">
                <a:solidFill>
                  <a:schemeClr val="dk1"/>
                </a:solidFill>
                <a:latin typeface="Calibri"/>
                <a:ea typeface="Calibri"/>
                <a:cs typeface="Calibri"/>
                <a:sym typeface="Calibri"/>
              </a:rPr>
              <a:t>where</a:t>
            </a:r>
            <a:r>
              <a:rPr b="0" i="0" lang="en-US" sz="1800" u="none" cap="none" strike="noStrike">
                <a:solidFill>
                  <a:schemeClr val="dk1"/>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Here, where is the index of the character that you want to obtain. The value of where must be nonnegative and specify a location within the string.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char ch;</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ch = "abc".charAt(1);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assigns the value “</a:t>
            </a:r>
            <a:r>
              <a:rPr b="1" i="0" lang="en-US" sz="1800" u="none" cap="none" strike="noStrike">
                <a:solidFill>
                  <a:schemeClr val="dk1"/>
                </a:solidFill>
                <a:latin typeface="Calibri"/>
                <a:ea typeface="Calibri"/>
                <a:cs typeface="Calibri"/>
                <a:sym typeface="Calibri"/>
              </a:rPr>
              <a:t>b</a:t>
            </a:r>
            <a:r>
              <a:rPr b="0" i="0" lang="en-US" sz="1800" u="none" cap="none" strike="noStrike">
                <a:solidFill>
                  <a:schemeClr val="dk1"/>
                </a:solidFill>
                <a:latin typeface="Calibri"/>
                <a:ea typeface="Calibri"/>
                <a:cs typeface="Calibri"/>
                <a:sym typeface="Calibri"/>
              </a:rPr>
              <a:t>” to </a:t>
            </a:r>
            <a:r>
              <a:rPr b="1" i="0" lang="en-US" sz="1800" u="none" cap="none" strike="noStrike">
                <a:solidFill>
                  <a:schemeClr val="dk1"/>
                </a:solidFill>
                <a:latin typeface="Calibri"/>
                <a:ea typeface="Calibri"/>
                <a:cs typeface="Calibri"/>
                <a:sym typeface="Calibri"/>
              </a:rPr>
              <a:t>ch</a:t>
            </a:r>
            <a:r>
              <a:rPr b="0" i="0" lang="en-US" sz="1800" u="none" cap="none" strike="noStrike">
                <a:solidFill>
                  <a:schemeClr val="dk1"/>
                </a:solidFill>
                <a:latin typeface="Calibri"/>
                <a:ea typeface="Calibri"/>
                <a:cs typeface="Calibri"/>
                <a:sym typeface="Calibri"/>
              </a:rPr>
              <a:t>.</a:t>
            </a:r>
            <a:endParaRPr b="0" i="0" sz="1800" u="none" cap="none" strike="noStrike">
              <a:solidFill>
                <a:schemeClr val="dk1"/>
              </a:solidFill>
              <a:latin typeface="Calibri"/>
              <a:ea typeface="Calibri"/>
              <a:cs typeface="Calibri"/>
              <a:sym typeface="Calibri"/>
            </a:endParaRPr>
          </a:p>
        </p:txBody>
      </p:sp>
      <p:sp>
        <p:nvSpPr>
          <p:cNvPr id="325" name="Google Shape;325;p25"/>
          <p:cNvSpPr/>
          <p:nvPr/>
        </p:nvSpPr>
        <p:spPr>
          <a:xfrm>
            <a:off x="589545" y="3335018"/>
            <a:ext cx="10401916" cy="313932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alibri"/>
                <a:ea typeface="Calibri"/>
                <a:cs typeface="Calibri"/>
                <a:sym typeface="Calibri"/>
              </a:rPr>
              <a:t>getChars(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If you need to extract more than one character at a time, you can use the </a:t>
            </a:r>
            <a:r>
              <a:rPr b="1" i="0" lang="en-US" sz="1800" u="none" cap="none" strike="noStrike">
                <a:solidFill>
                  <a:schemeClr val="dk1"/>
                </a:solidFill>
                <a:latin typeface="Calibri"/>
                <a:ea typeface="Calibri"/>
                <a:cs typeface="Calibri"/>
                <a:sym typeface="Calibri"/>
              </a:rPr>
              <a:t>getChars( ) </a:t>
            </a:r>
            <a:r>
              <a:rPr b="0" i="0" lang="en-US" sz="1800" u="none" cap="none" strike="noStrike">
                <a:solidFill>
                  <a:schemeClr val="dk1"/>
                </a:solidFill>
                <a:latin typeface="Calibri"/>
                <a:ea typeface="Calibri"/>
                <a:cs typeface="Calibri"/>
                <a:sym typeface="Calibri"/>
              </a:rPr>
              <a:t>method.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It has this general form:</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void getChars(int </a:t>
            </a:r>
            <a:r>
              <a:rPr b="0" i="1" lang="en-US" sz="1800" u="none" cap="none" strike="noStrike">
                <a:solidFill>
                  <a:schemeClr val="dk1"/>
                </a:solidFill>
                <a:latin typeface="Calibri"/>
                <a:ea typeface="Calibri"/>
                <a:cs typeface="Calibri"/>
                <a:sym typeface="Calibri"/>
              </a:rPr>
              <a:t>sourceStart</a:t>
            </a:r>
            <a:r>
              <a:rPr b="0" i="0" lang="en-US" sz="1800" u="none" cap="none" strike="noStrike">
                <a:solidFill>
                  <a:schemeClr val="dk1"/>
                </a:solidFill>
                <a:latin typeface="Calibri"/>
                <a:ea typeface="Calibri"/>
                <a:cs typeface="Calibri"/>
                <a:sym typeface="Calibri"/>
              </a:rPr>
              <a:t>, int </a:t>
            </a:r>
            <a:r>
              <a:rPr b="0" i="1" lang="en-US" sz="1800" u="none" cap="none" strike="noStrike">
                <a:solidFill>
                  <a:schemeClr val="dk1"/>
                </a:solidFill>
                <a:latin typeface="Calibri"/>
                <a:ea typeface="Calibri"/>
                <a:cs typeface="Calibri"/>
                <a:sym typeface="Calibri"/>
              </a:rPr>
              <a:t>sourceEnd</a:t>
            </a:r>
            <a:r>
              <a:rPr b="0" i="0" lang="en-US" sz="1800" u="none" cap="none" strike="noStrike">
                <a:solidFill>
                  <a:schemeClr val="dk1"/>
                </a:solidFill>
                <a:latin typeface="Calibri"/>
                <a:ea typeface="Calibri"/>
                <a:cs typeface="Calibri"/>
                <a:sym typeface="Calibri"/>
              </a:rPr>
              <a:t>, char </a:t>
            </a:r>
            <a:r>
              <a:rPr b="0" i="1" lang="en-US" sz="1800" u="none" cap="none" strike="noStrike">
                <a:solidFill>
                  <a:schemeClr val="dk1"/>
                </a:solidFill>
                <a:latin typeface="Calibri"/>
                <a:ea typeface="Calibri"/>
                <a:cs typeface="Calibri"/>
                <a:sym typeface="Calibri"/>
              </a:rPr>
              <a:t>target</a:t>
            </a:r>
            <a:r>
              <a:rPr b="0" i="0" lang="en-US" sz="1800" u="none" cap="none" strike="noStrike">
                <a:solidFill>
                  <a:schemeClr val="dk1"/>
                </a:solidFill>
                <a:latin typeface="Calibri"/>
                <a:ea typeface="Calibri"/>
                <a:cs typeface="Calibri"/>
                <a:sym typeface="Calibri"/>
              </a:rPr>
              <a:t>[ ], int </a:t>
            </a:r>
            <a:r>
              <a:rPr b="0" i="1" lang="en-US" sz="1800" u="none" cap="none" strike="noStrike">
                <a:solidFill>
                  <a:schemeClr val="dk1"/>
                </a:solidFill>
                <a:latin typeface="Calibri"/>
                <a:ea typeface="Calibri"/>
                <a:cs typeface="Calibri"/>
                <a:sym typeface="Calibri"/>
              </a:rPr>
              <a:t>targetStart</a:t>
            </a:r>
            <a:r>
              <a:rPr b="0" i="0" lang="en-US" sz="1800" u="none" cap="none" strike="noStrike">
                <a:solidFill>
                  <a:schemeClr val="dk1"/>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sourceStart specifies the index of the beginning of the substring, and sourceEnd specifies an index that is one past the end of the desired substring.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Thus, the substring contains the characters from sourceStart through sourceEnd–1.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The array that will receive the characters is specified by target.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The index within target at which the substring will be copied is passed in targetStart. </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26" name="Google Shape;326;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Sindhu K, Dept. of ISE</a:t>
            </a:r>
            <a:endParaRPr/>
          </a:p>
        </p:txBody>
      </p:sp>
      <p:sp>
        <p:nvSpPr>
          <p:cNvPr id="327" name="Google Shape;327;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26"/>
          <p:cNvSpPr/>
          <p:nvPr/>
        </p:nvSpPr>
        <p:spPr>
          <a:xfrm>
            <a:off x="645298" y="362069"/>
            <a:ext cx="7211078" cy="3416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class getCharsDemo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public static void main(String args[])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String s = "This is a demo of the getChars method.";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int start = 10;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int end = 14;</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char buf[] = new char[end - start];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alibri"/>
                <a:ea typeface="Calibri"/>
                <a:cs typeface="Calibri"/>
                <a:sym typeface="Calibri"/>
              </a:rPr>
              <a:t>s.getChars</a:t>
            </a:r>
            <a:r>
              <a:rPr b="0" i="0" lang="en-US" sz="1800" u="none" cap="none" strike="noStrike">
                <a:solidFill>
                  <a:schemeClr val="dk1"/>
                </a:solidFill>
                <a:latin typeface="Calibri"/>
                <a:ea typeface="Calibri"/>
                <a:cs typeface="Calibri"/>
                <a:sym typeface="Calibri"/>
              </a:rPr>
              <a:t>(start, end, buf, 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System.out.println(buf);</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Here is the output of this program:</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demo</a:t>
            </a:r>
            <a:endParaRPr b="0" i="0" sz="1400" u="none" cap="none" strike="noStrike">
              <a:solidFill>
                <a:srgbClr val="000000"/>
              </a:solidFill>
              <a:latin typeface="Arial"/>
              <a:ea typeface="Arial"/>
              <a:cs typeface="Arial"/>
              <a:sym typeface="Arial"/>
            </a:endParaRPr>
          </a:p>
        </p:txBody>
      </p:sp>
      <p:sp>
        <p:nvSpPr>
          <p:cNvPr id="333" name="Google Shape;333;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Sindhu K, Dept. of ISE</a:t>
            </a:r>
            <a:endParaRPr/>
          </a:p>
        </p:txBody>
      </p:sp>
      <p:sp>
        <p:nvSpPr>
          <p:cNvPr id="334" name="Google Shape;334;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g39e1ead23f4_0_0"/>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pic>
        <p:nvPicPr>
          <p:cNvPr id="341" name="Google Shape;341;g39e1ead23f4_0_0"/>
          <p:cNvPicPr preferRelativeResize="0"/>
          <p:nvPr/>
        </p:nvPicPr>
        <p:blipFill>
          <a:blip r:embed="rId3">
            <a:alphaModFix/>
          </a:blip>
          <a:stretch>
            <a:fillRect/>
          </a:stretch>
        </p:blipFill>
        <p:spPr>
          <a:xfrm>
            <a:off x="367825" y="1202625"/>
            <a:ext cx="7648575" cy="361950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g39e1ead23f4_0_6"/>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pic>
        <p:nvPicPr>
          <p:cNvPr id="348" name="Google Shape;348;g39e1ead23f4_0_6"/>
          <p:cNvPicPr preferRelativeResize="0"/>
          <p:nvPr/>
        </p:nvPicPr>
        <p:blipFill>
          <a:blip r:embed="rId3">
            <a:alphaModFix/>
          </a:blip>
          <a:stretch>
            <a:fillRect/>
          </a:stretch>
        </p:blipFill>
        <p:spPr>
          <a:xfrm>
            <a:off x="152400" y="152400"/>
            <a:ext cx="6861325" cy="1800875"/>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g39e1ead23f4_0_12"/>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pic>
        <p:nvPicPr>
          <p:cNvPr id="355" name="Google Shape;355;g39e1ead23f4_0_12"/>
          <p:cNvPicPr preferRelativeResize="0"/>
          <p:nvPr/>
        </p:nvPicPr>
        <p:blipFill>
          <a:blip r:embed="rId3">
            <a:alphaModFix/>
          </a:blip>
          <a:stretch>
            <a:fillRect/>
          </a:stretch>
        </p:blipFill>
        <p:spPr>
          <a:xfrm>
            <a:off x="152400" y="152400"/>
            <a:ext cx="11831001" cy="352435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g39e1ead23f4_0_17"/>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362" name="Google Shape;362;g39e1ead23f4_0_17"/>
          <p:cNvPicPr preferRelativeResize="0"/>
          <p:nvPr/>
        </p:nvPicPr>
        <p:blipFill>
          <a:blip r:embed="rId3">
            <a:alphaModFix/>
          </a:blip>
          <a:stretch>
            <a:fillRect/>
          </a:stretch>
        </p:blipFill>
        <p:spPr>
          <a:xfrm>
            <a:off x="152400" y="152400"/>
            <a:ext cx="10851775" cy="194730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g39e1ead23f4_0_22"/>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g39e1ead23f4_0_27"/>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2021-04-03T04:17:04Z</dcterms:created>
  <dc:creator>admin</dc:creator>
</cp:coreProperties>
</file>